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2b78db852420e" /><Relationship Type="http://schemas.openxmlformats.org/officeDocument/2006/relationships/extended-properties" Target="/docProps/app.xml" Id="R030cffc3e5014e5c" /><Relationship Type="http://schemas.openxmlformats.org/officeDocument/2006/relationships/officeDocument" Target="/ppt/presentation.xml" Id="Rf21f448774f6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cafa6d25314e61"/>
  </p:sldMasterIdLst>
  <p:notesMasterIdLst>
    <p:notesMasterId xmlns:r="http://schemas.openxmlformats.org/officeDocument/2006/relationships" r:id="R535bc1f0e8644e66"/>
  </p:notesMasterIdLst>
  <p:sldIdLst>
    <p:sldId xmlns:r="http://schemas.openxmlformats.org/officeDocument/2006/relationships" id="256" r:id="Rea3a010fa80946a5"/>
    <p:sldId xmlns:r="http://schemas.openxmlformats.org/officeDocument/2006/relationships" id="257" r:id="R15ac2da58aa94d90"/>
    <p:sldId xmlns:r="http://schemas.openxmlformats.org/officeDocument/2006/relationships" id="258" r:id="R6866da1a4bf74456"/>
    <p:sldId xmlns:r="http://schemas.openxmlformats.org/officeDocument/2006/relationships" id="259" r:id="R64489e0367cb4ccf"/>
    <p:sldId xmlns:r="http://schemas.openxmlformats.org/officeDocument/2006/relationships" id="260" r:id="Rd12b3ff533e54aac"/>
    <p:sldId xmlns:r="http://schemas.openxmlformats.org/officeDocument/2006/relationships" id="261" r:id="R420f73541be2421b"/>
    <p:sldId xmlns:r="http://schemas.openxmlformats.org/officeDocument/2006/relationships" id="262" r:id="R222f4cb5769548d8"/>
    <p:sldId xmlns:r="http://schemas.openxmlformats.org/officeDocument/2006/relationships" id="263" r:id="Rf891a03e693046fd"/>
    <p:sldId xmlns:r="http://schemas.openxmlformats.org/officeDocument/2006/relationships" id="264" r:id="R486d84dddb9e4057"/>
    <p:sldId xmlns:r="http://schemas.openxmlformats.org/officeDocument/2006/relationships" id="265" r:id="R5510b6b967144751"/>
    <p:sldId xmlns:r="http://schemas.openxmlformats.org/officeDocument/2006/relationships" id="266" r:id="R335a8900667f4ea3"/>
    <p:sldId xmlns:r="http://schemas.openxmlformats.org/officeDocument/2006/relationships" id="267" r:id="R5f150fc650a24edc"/>
    <p:sldId xmlns:r="http://schemas.openxmlformats.org/officeDocument/2006/relationships" id="268" r:id="R9e63ebe976ac4da9"/>
    <p:sldId xmlns:r="http://schemas.openxmlformats.org/officeDocument/2006/relationships" id="269" r:id="Rfd3824d4726347bf"/>
    <p:sldId xmlns:r="http://schemas.openxmlformats.org/officeDocument/2006/relationships" id="270" r:id="Raba1cbceb1ac4490"/>
    <p:sldId xmlns:r="http://schemas.openxmlformats.org/officeDocument/2006/relationships" id="271" r:id="R7808211cdeb94042"/>
    <p:sldId xmlns:r="http://schemas.openxmlformats.org/officeDocument/2006/relationships" id="272" r:id="R9662c8ebd59c45ce"/>
    <p:sldId xmlns:r="http://schemas.openxmlformats.org/officeDocument/2006/relationships" id="273" r:id="Rb217fa9e6c034e51"/>
    <p:sldId xmlns:r="http://schemas.openxmlformats.org/officeDocument/2006/relationships" id="274" r:id="R572982f05f2e49cf"/>
    <p:sldId xmlns:r="http://schemas.openxmlformats.org/officeDocument/2006/relationships" id="275" r:id="R2b2c7b36f9814524"/>
    <p:sldId xmlns:r="http://schemas.openxmlformats.org/officeDocument/2006/relationships" id="276" r:id="R5b2e4b9e09a44ee8"/>
    <p:sldId xmlns:r="http://schemas.openxmlformats.org/officeDocument/2006/relationships" id="277" r:id="R3bc46b1a7b0d41ed"/>
    <p:sldId xmlns:r="http://schemas.openxmlformats.org/officeDocument/2006/relationships" id="278" r:id="R1f9cbcfb6b984bd7"/>
    <p:sldId xmlns:r="http://schemas.openxmlformats.org/officeDocument/2006/relationships" id="279" r:id="Rcf6fff05d059415a"/>
    <p:sldId xmlns:r="http://schemas.openxmlformats.org/officeDocument/2006/relationships" id="280" r:id="R0035f72e69b246de"/>
    <p:sldId xmlns:r="http://schemas.openxmlformats.org/officeDocument/2006/relationships" id="281" r:id="Rb19f21f3ab264b00"/>
    <p:sldId xmlns:r="http://schemas.openxmlformats.org/officeDocument/2006/relationships" id="282" r:id="Rfb2f29d17b9f493a"/>
    <p:sldId xmlns:r="http://schemas.openxmlformats.org/officeDocument/2006/relationships" id="283" r:id="R49c32a1b1778411d"/>
    <p:sldId xmlns:r="http://schemas.openxmlformats.org/officeDocument/2006/relationships" id="284" r:id="R228c583e0b8e4950"/>
    <p:sldId xmlns:r="http://schemas.openxmlformats.org/officeDocument/2006/relationships" id="285" r:id="R46ac15cfc77d4ef1"/>
    <p:sldId xmlns:r="http://schemas.openxmlformats.org/officeDocument/2006/relationships" id="286" r:id="Rbe55d6c040074f85"/>
    <p:sldId xmlns:r="http://schemas.openxmlformats.org/officeDocument/2006/relationships" id="287" r:id="R2d600366f3404adf"/>
    <p:sldId xmlns:r="http://schemas.openxmlformats.org/officeDocument/2006/relationships" id="288" r:id="R4c5ff2badbb54f4d"/>
    <p:sldId xmlns:r="http://schemas.openxmlformats.org/officeDocument/2006/relationships" id="289" r:id="R8219f90c25aa4005"/>
    <p:sldId xmlns:r="http://schemas.openxmlformats.org/officeDocument/2006/relationships" id="290" r:id="Rf9839ec717154e5b"/>
    <p:sldId xmlns:r="http://schemas.openxmlformats.org/officeDocument/2006/relationships" id="291" r:id="Rc797d844724a457e"/>
    <p:sldId xmlns:r="http://schemas.openxmlformats.org/officeDocument/2006/relationships" id="292" r:id="R88f0f2f8adf54f46"/>
    <p:sldId xmlns:r="http://schemas.openxmlformats.org/officeDocument/2006/relationships" id="293" r:id="R628d9aec0215452b"/>
    <p:sldId xmlns:r="http://schemas.openxmlformats.org/officeDocument/2006/relationships" id="294" r:id="R9c0a73ba89684ab7"/>
    <p:sldId xmlns:r="http://schemas.openxmlformats.org/officeDocument/2006/relationships" id="295" r:id="R08ee86189dfa4e42"/>
    <p:sldId xmlns:r="http://schemas.openxmlformats.org/officeDocument/2006/relationships" id="296" r:id="Rf238a3c834f3422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4f490bd35e4694" /><Relationship Type="http://schemas.openxmlformats.org/officeDocument/2006/relationships/slideMaster" Target="/ppt/slideMasters/slideMaster1.xml" Id="R0ecafa6d25314e61" /><Relationship Type="http://schemas.openxmlformats.org/officeDocument/2006/relationships/notesMaster" Target="/ppt/notesMasters/notesMaster1.xml" Id="R535bc1f0e8644e66" /><Relationship Type="http://schemas.openxmlformats.org/officeDocument/2006/relationships/presProps" Target="/ppt/presProps.xml" Id="Rca00461560a74592" /><Relationship Type="http://schemas.openxmlformats.org/officeDocument/2006/relationships/tableStyles" Target="/ppt/tableStyles.xml" Id="R33224a4bce2d43e8" /><Relationship Type="http://schemas.openxmlformats.org/officeDocument/2006/relationships/slide" Target="/ppt/slides/slide1.xml" Id="Rea3a010fa80946a5" /><Relationship Type="http://schemas.openxmlformats.org/officeDocument/2006/relationships/slide" Target="/ppt/slides/slide2.xml" Id="R15ac2da58aa94d90" /><Relationship Type="http://schemas.openxmlformats.org/officeDocument/2006/relationships/slide" Target="/ppt/slides/slide3.xml" Id="R6866da1a4bf74456" /><Relationship Type="http://schemas.openxmlformats.org/officeDocument/2006/relationships/slide" Target="/ppt/slides/slide4.xml" Id="R64489e0367cb4ccf" /><Relationship Type="http://schemas.openxmlformats.org/officeDocument/2006/relationships/slide" Target="/ppt/slides/slide5.xml" Id="Rd12b3ff533e54aac" /><Relationship Type="http://schemas.openxmlformats.org/officeDocument/2006/relationships/slide" Target="/ppt/slides/slide6.xml" Id="R420f73541be2421b" /><Relationship Type="http://schemas.openxmlformats.org/officeDocument/2006/relationships/slide" Target="/ppt/slides/slide7.xml" Id="R222f4cb5769548d8" /><Relationship Type="http://schemas.openxmlformats.org/officeDocument/2006/relationships/slide" Target="/ppt/slides/slide8.xml" Id="Rf891a03e693046fd" /><Relationship Type="http://schemas.openxmlformats.org/officeDocument/2006/relationships/slide" Target="/ppt/slides/slide9.xml" Id="R486d84dddb9e4057" /><Relationship Type="http://schemas.openxmlformats.org/officeDocument/2006/relationships/slide" Target="/ppt/slides/slide10.xml" Id="R5510b6b967144751" /><Relationship Type="http://schemas.openxmlformats.org/officeDocument/2006/relationships/slide" Target="/ppt/slides/slide11.xml" Id="R335a8900667f4ea3" /><Relationship Type="http://schemas.openxmlformats.org/officeDocument/2006/relationships/slide" Target="/ppt/slides/slide12.xml" Id="R5f150fc650a24edc" /><Relationship Type="http://schemas.openxmlformats.org/officeDocument/2006/relationships/slide" Target="/ppt/slides/slide13.xml" Id="R9e63ebe976ac4da9" /><Relationship Type="http://schemas.openxmlformats.org/officeDocument/2006/relationships/slide" Target="/ppt/slides/slide14.xml" Id="Rfd3824d4726347bf" /><Relationship Type="http://schemas.openxmlformats.org/officeDocument/2006/relationships/slide" Target="/ppt/slides/slide15.xml" Id="Raba1cbceb1ac4490" /><Relationship Type="http://schemas.openxmlformats.org/officeDocument/2006/relationships/slide" Target="/ppt/slides/slide16.xml" Id="R7808211cdeb94042" /><Relationship Type="http://schemas.openxmlformats.org/officeDocument/2006/relationships/slide" Target="/ppt/slides/slide17.xml" Id="R9662c8ebd59c45ce" /><Relationship Type="http://schemas.openxmlformats.org/officeDocument/2006/relationships/slide" Target="/ppt/slides/slide18.xml" Id="Rb217fa9e6c034e51" /><Relationship Type="http://schemas.openxmlformats.org/officeDocument/2006/relationships/slide" Target="/ppt/slides/slide19.xml" Id="R572982f05f2e49cf" /><Relationship Type="http://schemas.openxmlformats.org/officeDocument/2006/relationships/slide" Target="/ppt/slides/slide20.xml" Id="R2b2c7b36f9814524" /><Relationship Type="http://schemas.openxmlformats.org/officeDocument/2006/relationships/slide" Target="/ppt/slides/slide21.xml" Id="R5b2e4b9e09a44ee8" /><Relationship Type="http://schemas.openxmlformats.org/officeDocument/2006/relationships/slide" Target="/ppt/slides/slide22.xml" Id="R3bc46b1a7b0d41ed" /><Relationship Type="http://schemas.openxmlformats.org/officeDocument/2006/relationships/slide" Target="/ppt/slides/slide23.xml" Id="R1f9cbcfb6b984bd7" /><Relationship Type="http://schemas.openxmlformats.org/officeDocument/2006/relationships/slide" Target="/ppt/slides/slide24.xml" Id="Rcf6fff05d059415a" /><Relationship Type="http://schemas.openxmlformats.org/officeDocument/2006/relationships/slide" Target="/ppt/slides/slide25.xml" Id="R0035f72e69b246de" /><Relationship Type="http://schemas.openxmlformats.org/officeDocument/2006/relationships/slide" Target="/ppt/slides/slide26.xml" Id="Rb19f21f3ab264b00" /><Relationship Type="http://schemas.openxmlformats.org/officeDocument/2006/relationships/slide" Target="/ppt/slides/slide27.xml" Id="Rfb2f29d17b9f493a" /><Relationship Type="http://schemas.openxmlformats.org/officeDocument/2006/relationships/slide" Target="/ppt/slides/slide28.xml" Id="R49c32a1b1778411d" /><Relationship Type="http://schemas.openxmlformats.org/officeDocument/2006/relationships/slide" Target="/ppt/slides/slide29.xml" Id="R228c583e0b8e4950" /><Relationship Type="http://schemas.openxmlformats.org/officeDocument/2006/relationships/slide" Target="/ppt/slides/slide30.xml" Id="R46ac15cfc77d4ef1" /><Relationship Type="http://schemas.openxmlformats.org/officeDocument/2006/relationships/slide" Target="/ppt/slides/slide31.xml" Id="Rbe55d6c040074f85" /><Relationship Type="http://schemas.openxmlformats.org/officeDocument/2006/relationships/slide" Target="/ppt/slides/slide32.xml" Id="R2d600366f3404adf" /><Relationship Type="http://schemas.openxmlformats.org/officeDocument/2006/relationships/slide" Target="/ppt/slides/slide33.xml" Id="R4c5ff2badbb54f4d" /><Relationship Type="http://schemas.openxmlformats.org/officeDocument/2006/relationships/slide" Target="/ppt/slides/slide34.xml" Id="R8219f90c25aa4005" /><Relationship Type="http://schemas.openxmlformats.org/officeDocument/2006/relationships/slide" Target="/ppt/slides/slide35.xml" Id="Rf9839ec717154e5b" /><Relationship Type="http://schemas.openxmlformats.org/officeDocument/2006/relationships/slide" Target="/ppt/slides/slide36.xml" Id="Rc797d844724a457e" /><Relationship Type="http://schemas.openxmlformats.org/officeDocument/2006/relationships/slide" Target="/ppt/slides/slide37.xml" Id="R88f0f2f8adf54f46" /><Relationship Type="http://schemas.openxmlformats.org/officeDocument/2006/relationships/slide" Target="/ppt/slides/slide38.xml" Id="R628d9aec0215452b" /><Relationship Type="http://schemas.openxmlformats.org/officeDocument/2006/relationships/slide" Target="/ppt/slides/slide39.xml" Id="R9c0a73ba89684ab7" /><Relationship Type="http://schemas.openxmlformats.org/officeDocument/2006/relationships/slide" Target="/ppt/slides/slide40.xml" Id="R08ee86189dfa4e42" /><Relationship Type="http://schemas.openxmlformats.org/officeDocument/2006/relationships/slide" Target="/ppt/slides/slide41.xml" Id="Rf238a3c834f342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b4be4885448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c23920df274163" /><Relationship Type="http://schemas.openxmlformats.org/officeDocument/2006/relationships/notesMaster" Target="/ppt/notesMasters/notesMaster1.xml" Id="R5243eb71df1f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e6adbea1154ec1" /><Relationship Type="http://schemas.openxmlformats.org/officeDocument/2006/relationships/notesMaster" Target="/ppt/notesMasters/notesMaster1.xml" Id="Rf52c05db5995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334b0901bd4b0d" /><Relationship Type="http://schemas.openxmlformats.org/officeDocument/2006/relationships/notesMaster" Target="/ppt/notesMasters/notesMaster1.xml" Id="R0df582fd104b40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479aab49114d59" /><Relationship Type="http://schemas.openxmlformats.org/officeDocument/2006/relationships/notesMaster" Target="/ppt/notesMasters/notesMaster1.xml" Id="R2332e4c713e747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3976a3063e4ab5" /><Relationship Type="http://schemas.openxmlformats.org/officeDocument/2006/relationships/notesMaster" Target="/ppt/notesMasters/notesMaster1.xml" Id="R23e7eacbb0d0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b3cf09b4146b2" /><Relationship Type="http://schemas.openxmlformats.org/officeDocument/2006/relationships/notesMaster" Target="/ppt/notesMasters/notesMaster1.xml" Id="R410c29c7b04d4e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aa7a93917445c0" /><Relationship Type="http://schemas.openxmlformats.org/officeDocument/2006/relationships/notesMaster" Target="/ppt/notesMasters/notesMaster1.xml" Id="R376a808bd29e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851878d3ea4942" /><Relationship Type="http://schemas.openxmlformats.org/officeDocument/2006/relationships/notesMaster" Target="/ppt/notesMasters/notesMaster1.xml" Id="R72a007957bdc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a66d45b0b34085" /><Relationship Type="http://schemas.openxmlformats.org/officeDocument/2006/relationships/notesMaster" Target="/ppt/notesMasters/notesMaster1.xml" Id="Rbcd3c22f660348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20fd9997b147b7" /><Relationship Type="http://schemas.openxmlformats.org/officeDocument/2006/relationships/notesMaster" Target="/ppt/notesMasters/notesMaster1.xml" Id="R5512ead6feb240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cef2acd4c64357" /><Relationship Type="http://schemas.openxmlformats.org/officeDocument/2006/relationships/notesMaster" Target="/ppt/notesMasters/notesMaster1.xml" Id="Rbe2d123cac1046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63bd72daec4554" /><Relationship Type="http://schemas.openxmlformats.org/officeDocument/2006/relationships/notesMaster" Target="/ppt/notesMasters/notesMaster1.xml" Id="R7c1d043e6b6f41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8378f88604f9a" /><Relationship Type="http://schemas.openxmlformats.org/officeDocument/2006/relationships/notesMaster" Target="/ppt/notesMasters/notesMaster1.xml" Id="R5f4a1639cf5543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44f57469624889" /><Relationship Type="http://schemas.openxmlformats.org/officeDocument/2006/relationships/notesMaster" Target="/ppt/notesMasters/notesMaster1.xml" Id="R9a882803fb8f41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c765765f7e4363" /><Relationship Type="http://schemas.openxmlformats.org/officeDocument/2006/relationships/notesMaster" Target="/ppt/notesMasters/notesMaster1.xml" Id="Rd44decf75c0d45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e17da90c1b40dc" /><Relationship Type="http://schemas.openxmlformats.org/officeDocument/2006/relationships/notesMaster" Target="/ppt/notesMasters/notesMaster1.xml" Id="R14285e25c98142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c16e4452454e34" /><Relationship Type="http://schemas.openxmlformats.org/officeDocument/2006/relationships/notesMaster" Target="/ppt/notesMasters/notesMaster1.xml" Id="R8e7e2f6e7a2143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5d4b796c0e414b" /><Relationship Type="http://schemas.openxmlformats.org/officeDocument/2006/relationships/notesMaster" Target="/ppt/notesMasters/notesMaster1.xml" Id="R6cba9879bd7d40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2a7767c26b437d" /><Relationship Type="http://schemas.openxmlformats.org/officeDocument/2006/relationships/notesMaster" Target="/ppt/notesMasters/notesMaster1.xml" Id="R9fd4bedfae8848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8bd8e7c6af4fea" /><Relationship Type="http://schemas.openxmlformats.org/officeDocument/2006/relationships/notesMaster" Target="/ppt/notesMasters/notesMaster1.xml" Id="Ra825a9249cd84f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a02616d77c43cb" /><Relationship Type="http://schemas.openxmlformats.org/officeDocument/2006/relationships/notesMaster" Target="/ppt/notesMasters/notesMaster1.xml" Id="R792a4740bc514b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874e5f3b2e4f36" /><Relationship Type="http://schemas.openxmlformats.org/officeDocument/2006/relationships/notesMaster" Target="/ppt/notesMasters/notesMaster1.xml" Id="R3edb83e5bc1f4b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461972119d4b31" /><Relationship Type="http://schemas.openxmlformats.org/officeDocument/2006/relationships/notesMaster" Target="/ppt/notesMasters/notesMaster1.xml" Id="R274f1fb79a3b4a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112f0caee5489e" /><Relationship Type="http://schemas.openxmlformats.org/officeDocument/2006/relationships/notesMaster" Target="/ppt/notesMasters/notesMaster1.xml" Id="R896418233b504d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285e575aff4d36" /><Relationship Type="http://schemas.openxmlformats.org/officeDocument/2006/relationships/notesMaster" Target="/ppt/notesMasters/notesMaster1.xml" Id="Ra5391500ddbe45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b4657dff1642c4" /><Relationship Type="http://schemas.openxmlformats.org/officeDocument/2006/relationships/notesMaster" Target="/ppt/notesMasters/notesMaster1.xml" Id="R094d015b282a41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c8a15af92a4f8b" /><Relationship Type="http://schemas.openxmlformats.org/officeDocument/2006/relationships/notesMaster" Target="/ppt/notesMasters/notesMaster1.xml" Id="R5e8ea657ca6d4f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c4d813d7eec4fcd" /><Relationship Type="http://schemas.openxmlformats.org/officeDocument/2006/relationships/notesMaster" Target="/ppt/notesMasters/notesMaster1.xml" Id="R3a1a3f2e63964b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29198b8f734a79" /><Relationship Type="http://schemas.openxmlformats.org/officeDocument/2006/relationships/notesMaster" Target="/ppt/notesMasters/notesMaster1.xml" Id="R8b9b33b79e0b4a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0c2901014548c3" /><Relationship Type="http://schemas.openxmlformats.org/officeDocument/2006/relationships/notesMaster" Target="/ppt/notesMasters/notesMaster1.xml" Id="R04805274d98e41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b7440a54584f90" /><Relationship Type="http://schemas.openxmlformats.org/officeDocument/2006/relationships/notesMaster" Target="/ppt/notesMasters/notesMaster1.xml" Id="R885df6d75e3049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98b8f091af430c" /><Relationship Type="http://schemas.openxmlformats.org/officeDocument/2006/relationships/notesMaster" Target="/ppt/notesMasters/notesMaster1.xml" Id="R96aaa9fe51b54ab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efdab9b5124d6b" /><Relationship Type="http://schemas.openxmlformats.org/officeDocument/2006/relationships/notesMaster" Target="/ppt/notesMasters/notesMaster1.xml" Id="Rcf3a8495212b4e2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dd2bdc86de84736" /><Relationship Type="http://schemas.openxmlformats.org/officeDocument/2006/relationships/notesMaster" Target="/ppt/notesMasters/notesMaster1.xml" Id="R9983555da3154e5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8ec7c070f094398" /><Relationship Type="http://schemas.openxmlformats.org/officeDocument/2006/relationships/notesMaster" Target="/ppt/notesMasters/notesMaster1.xml" Id="Rb0f0fe8bb3e94f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83ce76469b54d0c" /><Relationship Type="http://schemas.openxmlformats.org/officeDocument/2006/relationships/notesMaster" Target="/ppt/notesMasters/notesMaster1.xml" Id="Rf4965250fc974e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cb63ffbf3b64646" /><Relationship Type="http://schemas.openxmlformats.org/officeDocument/2006/relationships/notesMaster" Target="/ppt/notesMasters/notesMaster1.xml" Id="R8bb48422c846412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557958b24194ebc" /><Relationship Type="http://schemas.openxmlformats.org/officeDocument/2006/relationships/notesMaster" Target="/ppt/notesMasters/notesMaster1.xml" Id="R819bda9665c1402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56d24ad9c904a38" /><Relationship Type="http://schemas.openxmlformats.org/officeDocument/2006/relationships/notesMaster" Target="/ppt/notesMasters/notesMaster1.xml" Id="Re51b158be2c9414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d6680487945484a" /><Relationship Type="http://schemas.openxmlformats.org/officeDocument/2006/relationships/notesMaster" Target="/ppt/notesMasters/notesMaster1.xml" Id="Rc2810426e8fc432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e5d0af0654f4690" /><Relationship Type="http://schemas.openxmlformats.org/officeDocument/2006/relationships/notesMaster" Target="/ppt/notesMasters/notesMaster1.xml" Id="Ra9833bbfa99d4b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PENGGUNA</a:t>
            </a:r>
          </a:p>
          <a:p xmlns:a="http://schemas.openxmlformats.org/drawingml/2006/main">
            <a:r>
              <a:t>Masuk dengan akun Anda</a:t>
            </a:r>
          </a:p>
          <a:p xmlns:a="http://schemas.openxmlformats.org/drawingml/2006/main">
            <a:r>
              <a:t>Isi email akun: Gunakan email yang diberikan pengelola. Akun admin dan kasir memiliki menu yang berbeda.</a:t>
            </a:r>
          </a:p>
          <a:p xmlns:a="http://schemas.openxmlformats.org/drawingml/2006/main">
            <a:r>
              <a:t>Isi kata sandi: Masukkan kata sandi, lalu tekan Masuk. Jika gagal, periksa penulisan email dan kata sandi.</a:t>
            </a:r>
          </a:p>
          <a:p xmlns:a="http://schemas.openxmlformats.org/drawingml/2006/main">
            <a:r>
              <a:t>Gunakan alamat sistem Anda. Alamat localhost pada gambar hanya untuk aplikasi latihan.</a:t>
            </a:r>
          </a:p>
          <a:p xmlns:a="http://schemas.openxmlformats.org/drawingml/2006/main">
            <a:r>
              <a:t>Sumber: screenshot aplikasi HEJIRA latihan dari 01-login.png;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Kenali cabang dan menu utama</a:t>
            </a:r>
          </a:p>
          <a:p xmlns:a="http://schemas.openxmlformats.org/drawingml/2006/main">
            <a:r>
              <a:t>Periksa cabang: Pastikan nama cabang sesuai tempat Anda bekerja sebelum mencatat stok atau transaksi.</a:t>
            </a:r>
          </a:p>
          <a:p xmlns:a="http://schemas.openxmlformats.org/drawingml/2006/main">
            <a:r>
              <a:t>Mulai dari bahan: Bahan adalah barang yang dipakai membuat menu: daging, tortilla, saus, dan sebagainya.</a:t>
            </a:r>
          </a:p>
          <a:p xmlns:a="http://schemas.openxmlformats.org/drawingml/2006/main">
            <a:r>
              <a:t>Urutan persiapan: daftarkan bahan, atur resep menu, lalu pastikan stok sudah diterima.</a:t>
            </a:r>
          </a:p>
          <a:p xmlns:a="http://schemas.openxmlformats.org/drawingml/2006/main">
            <a:r>
              <a:t>Sumber: screenshot aplikasi HEJIRA latihan dari 02-dashboard.png;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Buka Bahan &amp; Satuan Kemasan</a:t>
            </a:r>
          </a:p>
          <a:p xmlns:a="http://schemas.openxmlformats.org/drawingml/2006/main">
            <a:r>
              <a:t>Tambah bahan baru: Tekan Tambah bahan jika bahan belum terdaftar. Periksa daftar dahulu agar bahan tidak dibuat dua kali.</a:t>
            </a:r>
          </a:p>
          <a:p xmlns:a="http://schemas.openxmlformats.org/drawingml/2006/main">
            <a:r>
              <a:t>Cari bahan yang ada: Ketik nama atau kode, lalu tekan Cari. Untuk mengubah bahan yang ada, gunakan tombol Edit.</a:t>
            </a:r>
          </a:p>
          <a:p xmlns:a="http://schemas.openxmlformats.org/drawingml/2006/main">
            <a:r>
              <a:t>Satu bahan dapat dipakai pada beberapa resep. Nama dan kode sebaiknya mudah dikenali petugas.</a:t>
            </a:r>
          </a:p>
          <a:p xmlns:a="http://schemas.openxmlformats.org/drawingml/2006/main">
            <a:r>
              <a:t>Sumber: screenshot aplikasi HEJIRA latihan dari 03-bahan-daftar.png;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Bedakan satuan dasar dan kemasan</a:t>
            </a:r>
          </a:p>
          <a:p xmlns:a="http://schemas.openxmlformats.org/drawingml/2006/main">
            <a:r>
              <a:t>Satuan dasar resep: Pilih satuan yang dipakai menghitung stok dan takaran resep. Pada contoh ini: gram.</a:t>
            </a:r>
          </a:p>
          <a:p xmlns:a="http://schemas.openxmlformats.org/drawingml/2006/main">
            <a:r>
              <a:t>Isi satu kemasan: Kemasan 2 kg berisi 2000 gram. Ketik 2000 pada kolom isi; nama kemasan hanya keterangan.</a:t>
            </a:r>
          </a:p>
          <a:p xmlns:a="http://schemas.openxmlformats.org/drawingml/2006/main">
            <a:r>
              <a:t>Contoh lain: 1 pak tortilla berisi 20 pcs. Satuan master bahan menjadi acuan stok dan resep.</a:t>
            </a:r>
          </a:p>
          <a:p xmlns:a="http://schemas.openxmlformats.org/drawingml/2006/main">
            <a:r>
              <a:t>Sumber: screenshot aplikasi HEJIRA latihan dari 04-bahan-satuan.png;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Periksa bahan lalu simpan</a:t>
            </a:r>
          </a:p>
          <a:p xmlns:a="http://schemas.openxmlformats.org/drawingml/2006/main">
            <a:r>
              <a:t>Simpan bahan: Periksa kode, nama, satuan dasar, satuan penerimaan, dan isi kemasan sebelum menekan Simpan bahan.</a:t>
            </a:r>
          </a:p>
          <a:p xmlns:a="http://schemas.openxmlformats.org/drawingml/2006/main">
            <a:r>
              <a:t>Mendaftarkan bahan belum menambah stok. Stok bertambah ketika penerimaan atau mutasi masuk dicatat.</a:t>
            </a:r>
          </a:p>
          <a:p xmlns:a="http://schemas.openxmlformats.org/drawingml/2006/main">
            <a:r>
              <a:t>Sumber: screenshot aplikasi HEJIRA latihan dari 05-bahan-simpan.png;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Buka Menu, Harga &amp; Gramasi</a:t>
            </a:r>
          </a:p>
          <a:p xmlns:a="http://schemas.openxmlformats.org/drawingml/2006/main">
            <a:r>
              <a:t>Buat menu baru: Pilih Tambah menu untuk menu jual yang belum tersedia, misalnya Kebab Original.</a:t>
            </a:r>
          </a:p>
          <a:p xmlns:a="http://schemas.openxmlformats.org/drawingml/2006/main">
            <a:r>
              <a:t>Perbaiki menu yang ada: Gunakan Edit menu &amp; resep untuk menyesuaikan harga atau takaran bahan menu tersebut.</a:t>
            </a:r>
          </a:p>
          <a:p xmlns:a="http://schemas.openxmlformats.org/drawingml/2006/main">
            <a:r>
              <a:t>Menu adalah barang yang dijual ke pelanggan. Gramasi berarti takaran bahan untuk membuat satu menu.</a:t>
            </a:r>
          </a:p>
          <a:p xmlns:a="http://schemas.openxmlformats.org/drawingml/2006/main">
            <a:r>
              <a:t>Sumber: screenshot aplikasi HEJIRA latihan dari 06-menu-daftar.png;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Isi nama menu dan harga jual</a:t>
            </a:r>
          </a:p>
          <a:p xmlns:a="http://schemas.openxmlformats.org/drawingml/2006/main">
            <a:r>
              <a:t>Nama yang dibaca kasir: Gunakan nama yang jelas. Lengkapi kode unik dan kelompok menu agar pencarian lebih mudah.</a:t>
            </a:r>
          </a:p>
          <a:p xmlns:a="http://schemas.openxmlformats.org/drawingml/2006/main">
            <a:r>
              <a:t>Harga satu menu: Ketik harga dalam angka rupiah. Contoh: 15000 berarti Rp15.000 untuk satu Kebab Original.</a:t>
            </a:r>
          </a:p>
          <a:p xmlns:a="http://schemas.openxmlformats.org/drawingml/2006/main">
            <a:r>
              <a:t>Harga pada contoh adalah data latihan. Gunakan harga yang ditetapkan usaha Anda.</a:t>
            </a:r>
          </a:p>
          <a:p xmlns:a="http://schemas.openxmlformats.org/drawingml/2006/main">
            <a:r>
              <a:t>Sumber: screenshot aplikasi HEJIRA latihan dari 07-menu-identitas.png;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Isi resep untuk satu menu</a:t>
            </a:r>
          </a:p>
          <a:p xmlns:a="http://schemas.openxmlformats.org/drawingml/2006/main">
            <a:r>
              <a:t>Takaran daging: Contoh: satu Kebab Original memakai 40 gram daging. Isi 40 pada bahan daging.</a:t>
            </a:r>
          </a:p>
          <a:p xmlns:a="http://schemas.openxmlformats.org/drawingml/2006/main">
            <a:r>
              <a:t>Takaran tortilla: Contoh: satu menu memakai 1 pcs tortilla. Isi takaran sesuai satuan bahan, bukan jumlah kemasan.</a:t>
            </a:r>
          </a:p>
          <a:p xmlns:a="http://schemas.openxmlformats.org/drawingml/2006/main">
            <a:r>
              <a:t>Jika terjual 2 menu, kebutuhan daging menjadi 2 × 40 = 80 gram; tortilla menjadi 2 pcs.</a:t>
            </a:r>
          </a:p>
          <a:p xmlns:a="http://schemas.openxmlformats.org/drawingml/2006/main">
            <a:r>
              <a:t>Sumber: screenshot aplikasi HEJIRA latihan dari 08-resep-takaran.png;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Lengkapi semua bahan dalam resep</a:t>
            </a:r>
          </a:p>
          <a:p xmlns:a="http://schemas.openxmlformats.org/drawingml/2006/main">
            <a:r>
              <a:t>Tambahkan bahan lain: Masukkan saus, sayuran, dan seluruh bahan yang memang dipakai. Setiap bahan cukup satu baris.</a:t>
            </a:r>
          </a:p>
          <a:p xmlns:a="http://schemas.openxmlformats.org/drawingml/2006/main">
            <a:r>
              <a:t>Simpan menu &amp; resep: Aktifkan menu jika sudah siap dijual. Setelah disimpan, kasir dapat memakai menu sesuai stok bahan.</a:t>
            </a:r>
          </a:p>
          <a:p xmlns:a="http://schemas.openxmlformats.org/drawingml/2006/main">
            <a:r>
              <a:t>Perubahan resep berlaku untuk transaksi berikutnya. Rincian resep transaksi lama tetap tersimpan.</a:t>
            </a:r>
          </a:p>
          <a:p xmlns:a="http://schemas.openxmlformats.org/drawingml/2006/main">
            <a:r>
              <a:t>Sumber: screenshot aplikasi HEJIRA latihan dari 09-resep-simpan.png;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Catat bahan yang sudah diterima</a:t>
            </a:r>
          </a:p>
          <a:p xmlns:a="http://schemas.openxmlformats.org/drawingml/2006/main">
            <a:r>
              <a:t>Tulis asal barang: Isi nama pemasok atau keterangan dokumen. Lengkapi nomor bukti jika ada dan catatan kondisi barang.</a:t>
            </a:r>
          </a:p>
          <a:p xmlns:a="http://schemas.openxmlformats.org/drawingml/2006/main">
            <a:r>
              <a:t>Periksa tanggal dan jam: Tanggal dan jam menunjukkan kapan barang diterima. Jam pada sistem memakai WIB.</a:t>
            </a:r>
          </a:p>
          <a:p xmlns:a="http://schemas.openxmlformats.org/drawingml/2006/main">
            <a:r>
              <a:t>Terima Bahan menambah stok Izzi saja. Untuk perpindahan dari stok Gudang/cabang lain, gunakan Mutasi Stok.</a:t>
            </a:r>
          </a:p>
          <a:p xmlns:a="http://schemas.openxmlformats.org/drawingml/2006/main">
            <a:r>
              <a:t>Sumber: screenshot aplikasi HEJIRA latihan dari 10-terima-identitas.png;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Pilih bahan, satuan input, dan jumlah</a:t>
            </a:r>
          </a:p>
          <a:p xmlns:a="http://schemas.openxmlformats.org/drawingml/2006/main">
            <a:r>
              <a:t>Pilih cara menghitung: Pilih kemasan jika menghitung kemasan utuh. Pilih satuan dasar jika barang ditimbang langsung dalam gram.</a:t>
            </a:r>
          </a:p>
          <a:p xmlns:a="http://schemas.openxmlformats.org/drawingml/2006/main">
            <a:r>
              <a:t>Isi jumlah yang diterima: Contoh: 1 kemasan 2 kg menambah 2000 gram. Periksa hasil konversi yang tampil di bawah kolom.</a:t>
            </a:r>
          </a:p>
          <a:p xmlns:a="http://schemas.openxmlformats.org/drawingml/2006/main">
            <a:r>
              <a:t>Jangan mengisi 2000 saat satuan input masih kemasan 2 kg. Angka tersebut berarti 2000 kemasan.</a:t>
            </a:r>
          </a:p>
          <a:p xmlns:a="http://schemas.openxmlformats.org/drawingml/2006/main">
            <a:r>
              <a:t>Sumber: screenshot aplikasi HEJIRA latihan dari 11-terima-jumlah.png;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Simpan satu kali untuk satu penerimaan</a:t>
            </a:r>
          </a:p>
          <a:p xmlns:a="http://schemas.openxmlformats.org/drawingml/2006/main">
            <a:r>
              <a:t>Tambah stok penerimaan: Tekan setelah barang dan jumlahnya diperiksa. Tunggu bukti penerimaan muncul sebelum membuat catatan berikutnya.</a:t>
            </a:r>
          </a:p>
          <a:p xmlns:a="http://schemas.openxmlformats.org/drawingml/2006/main">
            <a:r>
              <a:t>Jangan mencatat barang yang sama lagi melalui Terima Bahan jika sudah masuk lewat mutasi.</a:t>
            </a:r>
          </a:p>
          <a:p xmlns:a="http://schemas.openxmlformats.org/drawingml/2006/main">
            <a:r>
              <a:t>Sumber: screenshot aplikasi HEJIRA latihan dari 12-terima-simpan.png;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Periksa bukti dan perubahan saldo</a:t>
            </a:r>
          </a:p>
          <a:p xmlns:a="http://schemas.openxmlformats.org/drawingml/2006/main">
            <a:r>
              <a:t>Nomor penerimaan: Nomor IZ-TERIMA menjadi rujukan catatan. Cocokkan asal, waktu, jumlah, dan saldo sebelum/sesudah.</a:t>
            </a:r>
          </a:p>
          <a:p xmlns:a="http://schemas.openxmlformats.org/drawingml/2006/main">
            <a:r>
              <a:t>Contoh: saldo daging 4000 gram ditambah 2000 gram menjadi 6000 gram.</a:t>
            </a:r>
          </a:p>
          <a:p xmlns:a="http://schemas.openxmlformats.org/drawingml/2006/main">
            <a:r>
              <a:t>Sumber: screenshot aplikasi HEJIRA latihan dari 13-terima-riwayat.png;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Lihat stok bahan cabang aktif</a:t>
            </a:r>
          </a:p>
          <a:p xmlns:a="http://schemas.openxmlformats.org/drawingml/2006/main">
            <a:r>
              <a:t>Baca saldo dan satuan: Angka stok memakai satuan dasar bahan. Pada contoh, daging tersedia 6000 gram.</a:t>
            </a:r>
          </a:p>
          <a:p xmlns:a="http://schemas.openxmlformats.org/drawingml/2006/main">
            <a:r>
              <a:t>Cari bahan tertentu: Cari nama atau kode untuk mempercepat pemeriksaan. Periksa cabang sebelum membandingkan stok fisik.</a:t>
            </a:r>
          </a:p>
          <a:p xmlns:a="http://schemas.openxmlformats.org/drawingml/2006/main">
            <a:r>
              <a:t>Stok per cabang dapat berbeda. Perkiraan jumlah menu tersedia dihitung dari bahan dalam resep.</a:t>
            </a:r>
          </a:p>
          <a:p xmlns:a="http://schemas.openxmlformats.org/drawingml/2006/main">
            <a:r>
              <a:t>Sumber: screenshot aplikasi HEJIRA latihan dari 14-stok.png;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Buka laci sebelum mulai menjual</a:t>
            </a:r>
          </a:p>
          <a:p xmlns:a="http://schemas.openxmlformats.org/drawingml/2006/main">
            <a:r>
              <a:t>Masukkan modal awal: Isi uang tunai yang benar-benar ada pada awal shift. Contoh: 100000 berarti Rp100.000.</a:t>
            </a:r>
          </a:p>
          <a:p xmlns:a="http://schemas.openxmlformats.org/drawingml/2006/main">
            <a:r>
              <a:t>Tekan Buka laci: Setelah laci aktif, lanjutkan ke kasir. Selesaikan laci yang masih aktif sebelum membuka laci baru.</a:t>
            </a:r>
          </a:p>
          <a:p xmlns:a="http://schemas.openxmlformats.org/drawingml/2006/main">
            <a:r>
              <a:t>Modal awal adalah uang awal laci, bukan omzet dan bukan saldo bahan.</a:t>
            </a:r>
          </a:p>
          <a:p xmlns:a="http://schemas.openxmlformats.org/drawingml/2006/main">
            <a:r>
              <a:t>Sumber: screenshot aplikasi HEJIRA latihan dari 15-laci-buka.png;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Pilih menu pesanan pelanggan</a:t>
            </a:r>
          </a:p>
          <a:p xmlns:a="http://schemas.openxmlformats.org/drawingml/2006/main">
            <a:r>
              <a:t>Cari nama atau kode: Gunakan pencarian jika menu belum terlihat. Pilihan halaman berikutnya tersedia di bagian bawah katalog.</a:t>
            </a:r>
          </a:p>
          <a:p xmlns:a="http://schemas.openxmlformats.org/drawingml/2006/main">
            <a:r>
              <a:t>Tekan menu yang dipesan: Menu masuk ke daftar pesanan. Angka tersedia adalah perkiraan berdasarkan stok bahan saat itu.</a:t>
            </a:r>
          </a:p>
          <a:p xmlns:a="http://schemas.openxmlformats.org/drawingml/2006/main">
            <a:r>
              <a:t>Saat pembayaran, sistem memeriksa kebutuhan gabungan semua menu di pesanan.</a:t>
            </a:r>
          </a:p>
          <a:p xmlns:a="http://schemas.openxmlformats.org/drawingml/2006/main">
            <a:r>
              <a:t>Sumber: screenshot aplikasi HEJIRA latihan dari 16-kasir-menu.png;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Periksa isi dan jumlah pesanan</a:t>
            </a:r>
          </a:p>
          <a:p xmlns:a="http://schemas.openxmlformats.org/drawingml/2006/main">
            <a:r>
              <a:t>Isi jumlah menu: Contoh: 2 Kebab Original × Rp15.000 menghasilkan total Rp30.000.</a:t>
            </a:r>
          </a:p>
          <a:p xmlns:a="http://schemas.openxmlformats.org/drawingml/2006/main">
            <a:r>
              <a:t>Hapus pilihan yang keliru: Gunakan Hapus sebelum pembayaran jika menu salah. Periksa kembali pesanan bersama pelanggan.</a:t>
            </a:r>
          </a:p>
          <a:p xmlns:a="http://schemas.openxmlformats.org/drawingml/2006/main">
            <a:r>
              <a:t>Mengubah pesanan di layar belum mengurangi stok. Pengurangan terjadi setelah pembayaran berhasil disimpan.</a:t>
            </a:r>
          </a:p>
          <a:p xmlns:a="http://schemas.openxmlformats.org/drawingml/2006/main">
            <a:r>
              <a:t>Sumber: screenshot aplikasi HEJIRA latihan dari 17-kasir-jumlah.png;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Catat pembayaran tunai</a:t>
            </a:r>
          </a:p>
          <a:p xmlns:a="http://schemas.openxmlformats.org/drawingml/2006/main">
            <a:r>
              <a:t>Pilih Tunai: Gunakan pilihan ini jika uang diterima secara tunai. Nama pelanggan boleh dikosongkan.</a:t>
            </a:r>
          </a:p>
          <a:p xmlns:a="http://schemas.openxmlformats.org/drawingml/2006/main">
            <a:r>
              <a:t>Isi uang yang diterima: Untuk total Rp30.000 dan uang Rp50.000, kembalian yang tampil adalah Rp20.000.</a:t>
            </a:r>
          </a:p>
          <a:p xmlns:a="http://schemas.openxmlformats.org/drawingml/2006/main">
            <a:r>
              <a:t>Berikan kembalian sesuai angka yang tampil. Pastikan uang telah diterima sebelum menyimpan pembayaran.</a:t>
            </a:r>
          </a:p>
          <a:p xmlns:a="http://schemas.openxmlformats.org/drawingml/2006/main">
            <a:r>
              <a:t>Sumber: screenshot aplikasi HEJIRA latihan dari 18-bayar-tunai.png;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Catat pembayaran transfer</a:t>
            </a:r>
          </a:p>
          <a:p xmlns:a="http://schemas.openxmlformats.org/drawingml/2006/main">
            <a:r>
              <a:t>Pilih Transfer: Periksa dana sudah masuk sesuai total pesanan. Pembayaran transfer tidak menambah uang tunai di laci.</a:t>
            </a:r>
          </a:p>
          <a:p xmlns:a="http://schemas.openxmlformats.org/drawingml/2006/main">
            <a:r>
              <a:t>Tulis keterangan bukti: Nomor atau keterangan bukti transfer boleh diisi untuk memudahkan penelusuran transaksi.</a:t>
            </a:r>
          </a:p>
          <a:p xmlns:a="http://schemas.openxmlformats.org/drawingml/2006/main">
            <a:r>
              <a:t>Contoh layar ini menunjukkan total Rp30.000. Transaksi latihan berikutnya disimpan dengan pembayaran tunai.</a:t>
            </a:r>
          </a:p>
          <a:p xmlns:a="http://schemas.openxmlformats.org/drawingml/2006/main">
            <a:r>
              <a:t>Sumber: screenshot aplikasi HEJIRA latihan dari 19-bayar-transfer.png;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Simpan pembayaran dan potong bahan</a:t>
            </a:r>
          </a:p>
          <a:p xmlns:a="http://schemas.openxmlformats.org/drawingml/2006/main">
            <a:r>
              <a:t>Tekan setelah diperiksa: Tunggu sampai nomor transaksi dan rincian penjualan tampil. Semua bahan dipotong sesuai resep.</a:t>
            </a:r>
          </a:p>
          <a:p xmlns:a="http://schemas.openxmlformats.org/drawingml/2006/main">
            <a:r>
              <a:t>Jika muncul pesan stok tidak cukup atau harga berubah, periksa pesanan dan muat ulang katalog sebelum melanjutkan.</a:t>
            </a:r>
          </a:p>
          <a:p xmlns:a="http://schemas.openxmlformats.org/drawingml/2006/main">
            <a:r>
              <a:t>Sumber: screenshot aplikasi HEJIRA latihan dari 20-bayar-simpan.png;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Pastikan bukti transaksi muncul</a:t>
            </a:r>
          </a:p>
          <a:p xmlns:a="http://schemas.openxmlformats.org/drawingml/2006/main">
            <a:r>
              <a:t>Simpan nomor penjualan: Nomor IZ-POS memudahkan pencarian jika perlu memeriksa transaksi atau melakukan pembatalan.</a:t>
            </a:r>
          </a:p>
          <a:p xmlns:a="http://schemas.openxmlformats.org/drawingml/2006/main">
            <a:r>
              <a:t>Cetak struk: Tekan Cetak struk, lalu gunakan pilihan cetak pada browser. Pilih printer yang benar.</a:t>
            </a:r>
          </a:p>
          <a:p xmlns:a="http://schemas.openxmlformats.org/drawingml/2006/main">
            <a:r>
              <a:t>Contoh: total Rp30.000, uang diterima Rp50.000, kembalian Rp20.000.</a:t>
            </a:r>
          </a:p>
          <a:p xmlns:a="http://schemas.openxmlformats.org/drawingml/2006/main">
            <a:r>
              <a:t>Sumber: screenshot aplikasi HEJIRA latihan dari 21-penjualan-bukti.png;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Periksa bahan yang dipotong</a:t>
            </a:r>
          </a:p>
          <a:p xmlns:a="http://schemas.openxmlformats.org/drawingml/2006/main">
            <a:r>
              <a:t>Baca per menu dan total: Daging 40 gram per menu × 2 menu = 80 gram dipotong. Bahan lain juga mengikuti resepnya.</a:t>
            </a:r>
          </a:p>
          <a:p xmlns:a="http://schemas.openxmlformats.org/drawingml/2006/main">
            <a:r>
              <a:t>Rincian ini memakai resep saat transaksi terjadi. Resep yang diedit setelahnya tidak mengubah transaksi lama.</a:t>
            </a:r>
          </a:p>
          <a:p xmlns:a="http://schemas.openxmlformats.org/drawingml/2006/main">
            <a:r>
              <a:t>Sumber: screenshot aplikasi HEJIRA latihan dari 22-penjualan-bahan.png;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Telusuri riwayat keluar masuk bahan</a:t>
            </a:r>
          </a:p>
          <a:p xmlns:a="http://schemas.openxmlformats.org/drawingml/2006/main">
            <a:r>
              <a:t>Cari bahan atau dokumen: Gunakan pencarian saat ingin mencocokkan penerimaan, penjualan, pembatalan, atau perubahan saldo.</a:t>
            </a:r>
          </a:p>
          <a:p xmlns:a="http://schemas.openxmlformats.org/drawingml/2006/main">
            <a:r>
              <a:t>Buka transaksi asal: Lihat penjualan &amp; bahan membuka rincian menu yang menyebabkan bahan berkurang.</a:t>
            </a:r>
          </a:p>
          <a:p xmlns:a="http://schemas.openxmlformats.org/drawingml/2006/main">
            <a:r>
              <a:t>Perhatikan saldo sebelum, saldo sesudah, waktu WIB, dan petugas pada setiap catatan.</a:t>
            </a:r>
          </a:p>
          <a:p xmlns:a="http://schemas.openxmlformats.org/drawingml/2006/main">
            <a:r>
              <a:t>Sumber: screenshot aplikasi HEJIRA latihan dari 23-kartu-stok.png;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Pilih asal dan tujuan mutasi</a:t>
            </a:r>
          </a:p>
          <a:p xmlns:a="http://schemas.openxmlformats.org/drawingml/2006/main">
            <a:r>
              <a:t>Pastikan lokasi asal: Stok berkurang dari lokasi pengirim. Petugas hanya dapat mengirim dari lokasi yang boleh dikelolanya.</a:t>
            </a:r>
          </a:p>
          <a:p xmlns:a="http://schemas.openxmlformats.org/drawingml/2006/main">
            <a:r>
              <a:t>Pilih cabang atau Gudang: Contoh ini memindahkan bahan dari Izzi ke Gudang Utama. Arah sebaliknya dicatat petugas Gudang yang berwenang.</a:t>
            </a:r>
          </a:p>
          <a:p xmlns:a="http://schemas.openxmlformats.org/drawingml/2006/main">
            <a:r>
              <a:t>Mutasi baru dicatat setelah barang diterima. Isi nama pengirim, penerima, tanggal/jam WIB, dan alasan.</a:t>
            </a:r>
          </a:p>
          <a:p xmlns:a="http://schemas.openxmlformats.org/drawingml/2006/main">
            <a:r>
              <a:t>Sumber: screenshot aplikasi HEJIRA latihan dari 24-mutasi-tujuan.png;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Pilih barang dan jumlah yang dipindahkan</a:t>
            </a:r>
          </a:p>
          <a:p xmlns:a="http://schemas.openxmlformats.org/drawingml/2006/main">
            <a:r>
              <a:t>Pilih barang yang benar: Periksa kode dan nama. Produk tujuan harus mewakili barang fisik yang sama.</a:t>
            </a:r>
          </a:p>
          <a:p xmlns:a="http://schemas.openxmlformats.org/drawingml/2006/main">
            <a:r>
              <a:t>Gunakan satuan master: Contoh: 200 gram daging dipindahkan. Periksa sisa asal dan jumlah yang diterima tujuan.</a:t>
            </a:r>
          </a:p>
          <a:p xmlns:a="http://schemas.openxmlformats.org/drawingml/2006/main">
            <a:r>
              <a:t>Jika barang menggunakan master berbeda di tujuan, periksa konversi yang sudah tersedia pada formulir.</a:t>
            </a:r>
          </a:p>
          <a:p xmlns:a="http://schemas.openxmlformats.org/drawingml/2006/main">
            <a:r>
              <a:t>Sumber: screenshot aplikasi HEJIRA latihan dari 25-mutasi-barang.png;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Periksa barang sudah diterima</a:t>
            </a:r>
          </a:p>
          <a:p xmlns:a="http://schemas.openxmlformats.org/drawingml/2006/main">
            <a:r>
              <a:t>Baca pernyataan ini: Centang setelah memastikan barang diterima dan perpindahan yang sama belum pernah dicatat.</a:t>
            </a:r>
          </a:p>
          <a:p xmlns:a="http://schemas.openxmlformats.org/drawingml/2006/main">
            <a:r>
              <a:t>Simpan mutasi selesai: Sekali simpan mengurangi stok asal dan menambah stok tujuan bersama-sama. Tunggu bukti mutasi.</a:t>
            </a:r>
          </a:p>
          <a:p xmlns:a="http://schemas.openxmlformats.org/drawingml/2006/main">
            <a:r>
              <a:t>Jangan mencatat penerimaan yang sama lagi lewat Terima Bahan.</a:t>
            </a:r>
          </a:p>
          <a:p xmlns:a="http://schemas.openxmlformats.org/drawingml/2006/main">
            <a:r>
              <a:t>Sumber: screenshot aplikasi HEJIRA latihan dari 26-mutasi-konfirmasi.png;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Cocokkan bukti mutasi selesai</a:t>
            </a:r>
          </a:p>
          <a:p xmlns:a="http://schemas.openxmlformats.org/drawingml/2006/main">
            <a:r>
              <a:t>Pastikan status selesai: Selesai diterima berarti pengurangan asal dan penambahan tujuan sudah tersimpan.</a:t>
            </a:r>
          </a:p>
          <a:p xmlns:a="http://schemas.openxmlformats.org/drawingml/2006/main">
            <a:r>
              <a:t>Gunakan nomor mutasi: Nomor MUT menjadi rujukan. Bagian Jejak perubahan stok menunjukkan saldo asal dan tujuan.</a:t>
            </a:r>
          </a:p>
          <a:p xmlns:a="http://schemas.openxmlformats.org/drawingml/2006/main">
            <a:r>
              <a:t>Contoh: Izzi berkurang 200 gram, Gudang bertambah 200 gram. Riwayat tetap dapat diperiksa.</a:t>
            </a:r>
          </a:p>
          <a:p xmlns:a="http://schemas.openxmlformats.org/drawingml/2006/main">
            <a:r>
              <a:t>Sumber: screenshot aplikasi HEJIRA latihan dari 27-mutasi-hasil.png;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Pembatalan dilakukan oleh admin</a:t>
            </a:r>
          </a:p>
          <a:p xmlns:a="http://schemas.openxmlformats.org/drawingml/2006/main">
            <a:r>
              <a:t>Buka catatan pembatalan: Cari transaksi yang benar, lalu tekan Catat pembatalan menu. Laci transaksi harus masih terbuka.</a:t>
            </a:r>
          </a:p>
          <a:p xmlns:a="http://schemas.openxmlformats.org/drawingml/2006/main">
            <a:r>
              <a:t>Kasir menghubungi admin jika perlu pembatalan. Pembatalan tidak boleh mengubah rekap laci yang sudah ditutup.</a:t>
            </a:r>
          </a:p>
          <a:p xmlns:a="http://schemas.openxmlformats.org/drawingml/2006/main">
            <a:r>
              <a:t>Sumber: screenshot aplikasi HEJIRA latihan dari 28-batal-tombol.png;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Bedakan belum dibuat dan terbuang</a:t>
            </a:r>
          </a:p>
          <a:p xmlns:a="http://schemas.openxmlformats.org/drawingml/2006/main">
            <a:r>
              <a:t>Menu belum dibuat: Isi jumlah menu yang belum dibuat. Bahan sesuai resep akan dikembalikan ke stok.</a:t>
            </a:r>
          </a:p>
          <a:p xmlns:a="http://schemas.openxmlformats.org/drawingml/2006/main">
            <a:r>
              <a:t>Menu sudah dibuat: Isi menu yang sudah dibuat lalu terbuang. Bahannya tetap terpakai dan tidak dipotong dua kali.</a:t>
            </a:r>
          </a:p>
          <a:p xmlns:a="http://schemas.openxmlformats.org/drawingml/2006/main">
            <a:r>
              <a:t>Isi kondisi yang sebenarnya. Jumlah kedua kolom tidak boleh melebihi sisa menu yang belum dibatalkan.</a:t>
            </a:r>
          </a:p>
          <a:p xmlns:a="http://schemas.openxmlformats.org/drawingml/2006/main">
            <a:r>
              <a:t>Sumber: screenshot aplikasi HEJIRA latihan dari 29-batal-kondisi.png;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Isi alasan dan periksa pembatalan</a:t>
            </a:r>
          </a:p>
          <a:p xmlns:a="http://schemas.openxmlformats.org/drawingml/2006/main">
            <a:r>
              <a:t>Jelaskan kejadiannya: Tuliskan alasan yang mudah ditelusuri. Contoh: pelanggan membatalkan satu menu yang belum dibuat.</a:t>
            </a:r>
          </a:p>
          <a:p xmlns:a="http://schemas.openxmlformats.org/drawingml/2006/main">
            <a:r>
              <a:t>Simpan setelah konfirmasi: Centang pernyataan pemeriksaan, lalu simpan. Periksa nilai pengembalian uang pada hasil pembatalan.</a:t>
            </a:r>
          </a:p>
          <a:p xmlns:a="http://schemas.openxmlformats.org/drawingml/2006/main">
            <a:r>
              <a:t>Pencatatan pembatalan tidak menyerahkan uang secara otomatis. Petugas tetap perlu mengembalikan uang kepada pelanggan.</a:t>
            </a:r>
          </a:p>
          <a:p xmlns:a="http://schemas.openxmlformats.org/drawingml/2006/main">
            <a:r>
              <a:t>Sumber: screenshot aplikasi HEJIRA latihan dari 30-batal-simpan.png;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  <a:p xmlns:a="http://schemas.openxmlformats.org/drawingml/2006/main">
            <a:r>
              <a:t>Periksa penjualan bersih sesudah batal</a:t>
            </a:r>
          </a:p>
          <a:p xmlns:a="http://schemas.openxmlformats.org/drawingml/2006/main">
            <a:r>
              <a:t>Cocokkan nilai bersih: Penjualan awal Rp30.000 dikurangi pembatalan Rp15.000 menjadi penjualan bersih Rp15.000.</a:t>
            </a:r>
          </a:p>
          <a:p xmlns:a="http://schemas.openxmlformats.org/drawingml/2006/main">
            <a:r>
              <a:t>Pada contoh belum dibuat 1 menu, daging 40 gram dan bahan resep lainnya dikembalikan ke stok.</a:t>
            </a:r>
          </a:p>
          <a:p xmlns:a="http://schemas.openxmlformats.org/drawingml/2006/main">
            <a:r>
              <a:t>Sumber: screenshot aplikasi HEJIRA latihan dari 31-batal-hasil.png;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</a:t>
            </a:r>
          </a:p>
          <a:p xmlns:a="http://schemas.openxmlformats.org/drawingml/2006/main">
            <a:r>
              <a:t>Hitung uang lalu tutup laci</a:t>
            </a:r>
          </a:p>
          <a:p xmlns:a="http://schemas.openxmlformats.org/drawingml/2006/main">
            <a:r>
              <a:t>Isi uang fisik akhir: Hitung uang yang benar-benar ada. Contoh: modal Rp100.000 + tunai bersih Rp15.000 = Rp115.000.</a:t>
            </a:r>
          </a:p>
          <a:p xmlns:a="http://schemas.openxmlformats.org/drawingml/2006/main">
            <a:r>
              <a:t>Simpan rekap penutupan: Tulis alasan bila ada selisih. Pastikan pengembalian uang pembatalan sudah selesai sebelum menutup laci.</a:t>
            </a:r>
          </a:p>
          <a:p xmlns:a="http://schemas.openxmlformats.org/drawingml/2006/main">
            <a:r>
              <a:t>Uang transfer tidak dihitung sebagai uang tunai laci. Setelah ditutup, transaksi shift tersebut tidak dapat dibatalkan.</a:t>
            </a:r>
          </a:p>
          <a:p xmlns:a="http://schemas.openxmlformats.org/drawingml/2006/main">
            <a:r>
              <a:t>Sumber: screenshot aplikasi HEJIRA latihan dari 32-laci-tutup.png;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KASIR DAN ADMIN</a:t>
            </a:r>
          </a:p>
          <a:p xmlns:a="http://schemas.openxmlformats.org/drawingml/2006/main">
            <a:r>
              <a:t>Periksa rekap laci ditutup</a:t>
            </a:r>
          </a:p>
          <a:p xmlns:a="http://schemas.openxmlformats.org/drawingml/2006/main">
            <a:r>
              <a:t>Status sudah ditutup: Periksa nama kasir dan waktu buka/tutup. Riwayat ini menjadi catatan satu shift kerja.</a:t>
            </a:r>
          </a:p>
          <a:p xmlns:a="http://schemas.openxmlformats.org/drawingml/2006/main">
            <a:r>
              <a:t>Baca selisih uang: Selisih membandingkan uang fisik yang dihitung dengan perkiraan sistem. Contoh ini menunjukkan Rp0.</a:t>
            </a:r>
          </a:p>
          <a:p xmlns:a="http://schemas.openxmlformats.org/drawingml/2006/main">
            <a:r>
              <a:t>Jika ada selisih, tulis sebab yang sebenarnya; jangan mengubah angka hanya agar hasilnya nol.</a:t>
            </a:r>
          </a:p>
          <a:p xmlns:a="http://schemas.openxmlformats.org/drawingml/2006/main">
            <a:r>
              <a:t>Sumber: screenshot aplikasi HEJIRA latihan dari 33-laci-riwayat.png;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Stock opname memerlukan izin Owner</a:t>
            </a:r>
          </a:p>
          <a:p xmlns:a="http://schemas.openxmlformats.org/drawingml/2006/main">
            <a:r>
              <a:t>Pastikan sesi aktif: Owner membuka sesi untuk lokasi tertentu dengan batas waktu. Periksa nama cabang dan instruksinya.</a:t>
            </a:r>
          </a:p>
          <a:p xmlns:a="http://schemas.openxmlformats.org/drawingml/2006/main">
            <a:r>
              <a:t>Mulai hitung fisik: Buka sesi yang sesuai. Hentikan pergerakan bahan sementara agar hasil hitung tetap cocok.</a:t>
            </a:r>
          </a:p>
          <a:p xmlns:a="http://schemas.openxmlformats.org/drawingml/2006/main">
            <a:r>
              <a:t>Jika belum ada sesi atau waktunya habis, minta Owner membuka atau memperpanjang akses.</a:t>
            </a:r>
          </a:p>
          <a:p xmlns:a="http://schemas.openxmlformats.org/drawingml/2006/main">
            <a:r>
              <a:t>Sumber: screenshot aplikasi HEJIRA latihan dari 34-so-sesi.png;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Isi total hasil hitung fisik</a:t>
            </a:r>
          </a:p>
          <a:p xmlns:a="http://schemas.openxmlformats.org/drawingml/2006/main">
            <a:r>
              <a:t>Masukkan saldo akhir fisik: Jika hasil timbang 5750 gram, masukkan 5750. Jangan memasukkan angka selisih 10 gram.</a:t>
            </a:r>
          </a:p>
          <a:p xmlns:a="http://schemas.openxmlformats.org/drawingml/2006/main">
            <a:r>
              <a:t>Contoh: sistem 5760 gram, fisik 5750 gram. Sistem menghitung selisih -10 gram.</a:t>
            </a:r>
          </a:p>
          <a:p xmlns:a="http://schemas.openxmlformats.org/drawingml/2006/main">
            <a:r>
              <a:t>Sumber: screenshot aplikasi HEJIRA latihan dari 35-so-jumlah.png;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Jelaskan selisih lalu simpan SO</a:t>
            </a:r>
          </a:p>
          <a:p xmlns:a="http://schemas.openxmlformats.org/drawingml/2006/main">
            <a:r>
              <a:t>Catat hasil pemeriksaan: Jelaskan hasil hitung dan sebab selisih sesuai temuan. Periksa kembali satuan yang digunakan.</a:t>
            </a:r>
          </a:p>
          <a:p xmlns:a="http://schemas.openxmlformats.org/drawingml/2006/main">
            <a:r>
              <a:t>Simpan hasil hitung: Centang konfirmasi fisik lalu simpan. Saldo lokasi akan mengikuti angka hasil hitung Anda.</a:t>
            </a:r>
          </a:p>
          <a:p xmlns:a="http://schemas.openxmlformats.org/drawingml/2006/main">
            <a:r>
              <a:t>Satu produk disimpan sekali per sesi. Jika stok berubah selama menghitung, muat ulang dan hitung kembali.</a:t>
            </a:r>
          </a:p>
          <a:p xmlns:a="http://schemas.openxmlformats.org/drawingml/2006/main">
            <a:r>
              <a:t>Sumber: screenshot aplikasi HEJIRA latihan dari 36-so-simpan.png;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DAN KASIR</a:t>
            </a:r>
          </a:p>
          <a:p xmlns:a="http://schemas.openxmlformats.org/drawingml/2006/main">
            <a:r>
              <a:t>Lihat petugas dan jejak hasil SO</a:t>
            </a:r>
          </a:p>
          <a:p xmlns:a="http://schemas.openxmlformats.org/drawingml/2006/main">
            <a:r>
              <a:t>Buka detail hasil hitung: Detail menunjukkan saldo sebelum/sesudah, selisih, petugas, alasan, izin Owner, dan jejak penyesuaian.</a:t>
            </a:r>
          </a:p>
          <a:p xmlns:a="http://schemas.openxmlformats.org/drawingml/2006/main">
            <a:r>
              <a:t>Gunakan Riwayat SO untuk mencari hasil berdasarkan produk, tanggal, petugas, atau sesi.</a:t>
            </a:r>
          </a:p>
          <a:p xmlns:a="http://schemas.openxmlformats.org/drawingml/2006/main">
            <a:r>
              <a:t>Sumber: screenshot aplikasi HEJIRA latihan dari 37-so-hasil.png; kode resources/js/Pages/Izzi dan BranchTransfers/StockOpname. Sesi pengambilan gambar 15 Oktober 2026, WIB. Tidak memakai transaksi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berdasarkan fitur dan tampilan proyek HEJIRA. Semua contoh memakai aplikasi latihan SQLite terpisah, bukan data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b0a6d9ee64a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ad5171d4442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dd7067fad46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5b7cbd6604e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4c0bf68f147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bd529a9cf49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A95090-C411-4457-960A-EE4307C41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07D284-4715-45C5-AA88-37527F81F8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2029C9-E80C-46C5-87F1-FAE878375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DE63C0-DC84-4F87-852E-74DC6B02F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C2E6CC-498B-4BEE-80D8-8700C87DD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2A208B-1118-40BF-ADAA-FF498B4F2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20AB9E-E727-4B21-AFA1-3F81D41CFB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D38CEC-279D-4610-BBF2-7748D6E1B5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DBF4EA-89AF-4B36-B4BF-0550265B5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A3BA93-5A48-48B4-A9C1-87A563895F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72f9dc98d4c2e" /><Relationship Type="http://schemas.openxmlformats.org/officeDocument/2006/relationships/slideLayout" Target="/ppt/slideLayouts/slideLayout1.xml" Id="R74145064edb6474a" /><Relationship Type="http://schemas.openxmlformats.org/officeDocument/2006/relationships/slideLayout" Target="/ppt/slideLayouts/slideLayout2.xml" Id="R5a72d510b7b3489f" /><Relationship Type="http://schemas.openxmlformats.org/officeDocument/2006/relationships/slideLayout" Target="/ppt/slideLayouts/slideLayout3.xml" Id="R09e41a38c7ee4ee8" /><Relationship Type="http://schemas.openxmlformats.org/officeDocument/2006/relationships/slideLayout" Target="/ppt/slideLayouts/slideLayout4.xml" Id="R6222e1b659ec46a1" /><Relationship Type="http://schemas.openxmlformats.org/officeDocument/2006/relationships/slideLayout" Target="/ppt/slideLayouts/slideLayout5.xml" Id="R1b4997116610441e" /><Relationship Type="http://schemas.openxmlformats.org/officeDocument/2006/relationships/slideLayout" Target="/ppt/slideLayouts/slideLayout6.xml" Id="Rfc0ba3017e92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45064edb6474a"/>
    <p:sldLayoutId xmlns:r="http://schemas.openxmlformats.org/officeDocument/2006/relationships" id="2147483650" r:id="R5a72d510b7b3489f"/>
    <p:sldLayoutId xmlns:r="http://schemas.openxmlformats.org/officeDocument/2006/relationships" id="2147483651" r:id="R09e41a38c7ee4ee8"/>
    <p:sldLayoutId xmlns:r="http://schemas.openxmlformats.org/officeDocument/2006/relationships" id="2147483652" r:id="R6222e1b659ec46a1"/>
    <p:sldLayoutId xmlns:r="http://schemas.openxmlformats.org/officeDocument/2006/relationships" id="2147483653" r:id="R1b4997116610441e"/>
    <p:sldLayoutId xmlns:r="http://schemas.openxmlformats.org/officeDocument/2006/relationships" id="2147483654" r:id="Rfc0ba3017e92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82dc1026c4605" /><Relationship Type="http://schemas.openxmlformats.org/officeDocument/2006/relationships/notesSlide" Target="/ppt/notesSlides/notesSlide1.xml" Id="R4e2aebcb587b4f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4b69e9d2645de" /><Relationship Type="http://schemas.openxmlformats.org/officeDocument/2006/relationships/notesSlide" Target="/ppt/notesSlides/notesSlide2.xml" Id="R637a81d489a7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c5bd77b124026" /><Relationship Type="http://schemas.openxmlformats.org/officeDocument/2006/relationships/notesSlide" Target="/ppt/notesSlides/notesSlide3.xml" Id="R601a7298e39241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eba402dc143fd" /><Relationship Type="http://schemas.openxmlformats.org/officeDocument/2006/relationships/image" Target="/ppt/media/image.jpeg" Id="R96ef8d8ccfcf424e" /><Relationship Type="http://schemas.openxmlformats.org/officeDocument/2006/relationships/notesSlide" Target="/ppt/notesSlides/notesSlide4.xml" Id="R51bfa0f2374a4f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9bb93fa584483" /><Relationship Type="http://schemas.openxmlformats.org/officeDocument/2006/relationships/image" Target="/ppt/media/image2.jpeg" Id="Ra54acd1c7adc485c" /><Relationship Type="http://schemas.openxmlformats.org/officeDocument/2006/relationships/notesSlide" Target="/ppt/notesSlides/notesSlide5.xml" Id="Rdcdc3620848642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9830bde88496c" /><Relationship Type="http://schemas.openxmlformats.org/officeDocument/2006/relationships/image" Target="/ppt/media/image3.jpeg" Id="Rcda1b83818a743f3" /><Relationship Type="http://schemas.openxmlformats.org/officeDocument/2006/relationships/notesSlide" Target="/ppt/notesSlides/notesSlide6.xml" Id="Rf9170da1e03a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b1fceea0d4f15" /><Relationship Type="http://schemas.openxmlformats.org/officeDocument/2006/relationships/image" Target="/ppt/media/image4.jpeg" Id="R7145473144e44673" /><Relationship Type="http://schemas.openxmlformats.org/officeDocument/2006/relationships/notesSlide" Target="/ppt/notesSlides/notesSlide7.xml" Id="R93c3d24269c8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f75c6eb03412a" /><Relationship Type="http://schemas.openxmlformats.org/officeDocument/2006/relationships/image" Target="/ppt/media/image5.jpeg" Id="R189d7df523e2430f" /><Relationship Type="http://schemas.openxmlformats.org/officeDocument/2006/relationships/notesSlide" Target="/ppt/notesSlides/notesSlide8.xml" Id="Rf4c2f356f8a643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4382ff4844789" /><Relationship Type="http://schemas.openxmlformats.org/officeDocument/2006/relationships/image" Target="/ppt/media/image6.jpeg" Id="R5f9e53ea9d33448a" /><Relationship Type="http://schemas.openxmlformats.org/officeDocument/2006/relationships/notesSlide" Target="/ppt/notesSlides/notesSlide9.xml" Id="R2df20d978cb447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be4b871204180" /><Relationship Type="http://schemas.openxmlformats.org/officeDocument/2006/relationships/image" Target="/ppt/media/image7.jpeg" Id="R74ef62ab93024c4f" /><Relationship Type="http://schemas.openxmlformats.org/officeDocument/2006/relationships/notesSlide" Target="/ppt/notesSlides/notesSlide10.xml" Id="R510b460036ec40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eb67e1b774031" /><Relationship Type="http://schemas.openxmlformats.org/officeDocument/2006/relationships/image" Target="/ppt/media/image8.jpeg" Id="Re2694fe2b5604ce9" /><Relationship Type="http://schemas.openxmlformats.org/officeDocument/2006/relationships/notesSlide" Target="/ppt/notesSlides/notesSlide11.xml" Id="R676eb8ee98e148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eec9d76f649df" /><Relationship Type="http://schemas.openxmlformats.org/officeDocument/2006/relationships/image" Target="/ppt/media/image9.jpeg" Id="R519795fef94e436d" /><Relationship Type="http://schemas.openxmlformats.org/officeDocument/2006/relationships/notesSlide" Target="/ppt/notesSlides/notesSlide12.xml" Id="Rb828677e506645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4264fa1e64ca3" /><Relationship Type="http://schemas.openxmlformats.org/officeDocument/2006/relationships/image" Target="/ppt/media/image10.jpeg" Id="Rf86fc41ca06c47b1" /><Relationship Type="http://schemas.openxmlformats.org/officeDocument/2006/relationships/notesSlide" Target="/ppt/notesSlides/notesSlide13.xml" Id="R61b4568649794e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eb2db6e9a4fcf" /><Relationship Type="http://schemas.openxmlformats.org/officeDocument/2006/relationships/image" Target="/ppt/media/image11.jpeg" Id="R766aa3e951574c6c" /><Relationship Type="http://schemas.openxmlformats.org/officeDocument/2006/relationships/notesSlide" Target="/ppt/notesSlides/notesSlide14.xml" Id="R3e4c26a7ef294f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8de3a40bd44fc" /><Relationship Type="http://schemas.openxmlformats.org/officeDocument/2006/relationships/image" Target="/ppt/media/image12.jpeg" Id="Rf37fad08d80a4ff8" /><Relationship Type="http://schemas.openxmlformats.org/officeDocument/2006/relationships/notesSlide" Target="/ppt/notesSlides/notesSlide15.xml" Id="R7cee94bcf9d14f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91dc0e7d24714" /><Relationship Type="http://schemas.openxmlformats.org/officeDocument/2006/relationships/image" Target="/ppt/media/image13.jpeg" Id="R7cfadbd08f7a4196" /><Relationship Type="http://schemas.openxmlformats.org/officeDocument/2006/relationships/notesSlide" Target="/ppt/notesSlides/notesSlide16.xml" Id="R79687c76141042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5273ceaf04092" /><Relationship Type="http://schemas.openxmlformats.org/officeDocument/2006/relationships/image" Target="/ppt/media/image14.jpeg" Id="Rec0bdd4d67a046b6" /><Relationship Type="http://schemas.openxmlformats.org/officeDocument/2006/relationships/notesSlide" Target="/ppt/notesSlides/notesSlide17.xml" Id="R96f35e8b186748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8ac7854494c0f" /><Relationship Type="http://schemas.openxmlformats.org/officeDocument/2006/relationships/image" Target="/ppt/media/image15.jpeg" Id="R07d9629c327a45b4" /><Relationship Type="http://schemas.openxmlformats.org/officeDocument/2006/relationships/notesSlide" Target="/ppt/notesSlides/notesSlide18.xml" Id="Rbfd2af1ff61c4b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8fd440c904a0f" /><Relationship Type="http://schemas.openxmlformats.org/officeDocument/2006/relationships/image" Target="/ppt/media/image16.jpeg" Id="Rab29aab441d147bc" /><Relationship Type="http://schemas.openxmlformats.org/officeDocument/2006/relationships/notesSlide" Target="/ppt/notesSlides/notesSlide19.xml" Id="Rad3cf0233e3d48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3826967694e2a" /><Relationship Type="http://schemas.openxmlformats.org/officeDocument/2006/relationships/image" Target="/ppt/media/image17.jpeg" Id="R764d770ae38a4630" /><Relationship Type="http://schemas.openxmlformats.org/officeDocument/2006/relationships/notesSlide" Target="/ppt/notesSlides/notesSlide20.xml" Id="R348db4e08e0d48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62f799e354fb4" /><Relationship Type="http://schemas.openxmlformats.org/officeDocument/2006/relationships/image" Target="/ppt/media/image18.jpeg" Id="Re8680df4d5d14724" /><Relationship Type="http://schemas.openxmlformats.org/officeDocument/2006/relationships/notesSlide" Target="/ppt/notesSlides/notesSlide21.xml" Id="R5b11545047ac4c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2e98b44834498" /><Relationship Type="http://schemas.openxmlformats.org/officeDocument/2006/relationships/image" Target="/ppt/media/image19.jpeg" Id="R4f073d4297f54783" /><Relationship Type="http://schemas.openxmlformats.org/officeDocument/2006/relationships/notesSlide" Target="/ppt/notesSlides/notesSlide22.xml" Id="Rca432abfa09344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66251d99a4bcd" /><Relationship Type="http://schemas.openxmlformats.org/officeDocument/2006/relationships/image" Target="/ppt/media/image20.jpeg" Id="R011370c027e64aa4" /><Relationship Type="http://schemas.openxmlformats.org/officeDocument/2006/relationships/notesSlide" Target="/ppt/notesSlides/notesSlide23.xml" Id="R4d2d6d8ae0f344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fecb6de3e457f" /><Relationship Type="http://schemas.openxmlformats.org/officeDocument/2006/relationships/image" Target="/ppt/media/image21.jpeg" Id="R946d7a60d7384efa" /><Relationship Type="http://schemas.openxmlformats.org/officeDocument/2006/relationships/notesSlide" Target="/ppt/notesSlides/notesSlide24.xml" Id="R3243a61aefcb48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8e4a67f2f4249" /><Relationship Type="http://schemas.openxmlformats.org/officeDocument/2006/relationships/image" Target="/ppt/media/image22.jpeg" Id="Rbdf4875651154e27" /><Relationship Type="http://schemas.openxmlformats.org/officeDocument/2006/relationships/notesSlide" Target="/ppt/notesSlides/notesSlide25.xml" Id="R2e4ccf0442fb43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a04d818e94fd2" /><Relationship Type="http://schemas.openxmlformats.org/officeDocument/2006/relationships/image" Target="/ppt/media/image23.jpeg" Id="Rf2df460f1eca442f" /><Relationship Type="http://schemas.openxmlformats.org/officeDocument/2006/relationships/notesSlide" Target="/ppt/notesSlides/notesSlide26.xml" Id="R6447fc76f1884a2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328aa9b3e41cc" /><Relationship Type="http://schemas.openxmlformats.org/officeDocument/2006/relationships/image" Target="/ppt/media/image24.jpeg" Id="Rf927046490c6450b" /><Relationship Type="http://schemas.openxmlformats.org/officeDocument/2006/relationships/notesSlide" Target="/ppt/notesSlides/notesSlide27.xml" Id="Rca443e352c8c4d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6eac70820476c" /><Relationship Type="http://schemas.openxmlformats.org/officeDocument/2006/relationships/image" Target="/ppt/media/image25.jpeg" Id="R1b143b21af254716" /><Relationship Type="http://schemas.openxmlformats.org/officeDocument/2006/relationships/notesSlide" Target="/ppt/notesSlides/notesSlide28.xml" Id="R97c0bddcf1ed4b2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ca1c30722442e" /><Relationship Type="http://schemas.openxmlformats.org/officeDocument/2006/relationships/image" Target="/ppt/media/image26.jpeg" Id="R3291c2f2830c4ca4" /><Relationship Type="http://schemas.openxmlformats.org/officeDocument/2006/relationships/notesSlide" Target="/ppt/notesSlides/notesSlide29.xml" Id="Rd6e495ba42a946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499dffd664927" /><Relationship Type="http://schemas.openxmlformats.org/officeDocument/2006/relationships/image" Target="/ppt/media/image27.jpeg" Id="Ree4bef4f34a14299" /><Relationship Type="http://schemas.openxmlformats.org/officeDocument/2006/relationships/notesSlide" Target="/ppt/notesSlides/notesSlide30.xml" Id="Re34853a51df144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f037890bc4276" /><Relationship Type="http://schemas.openxmlformats.org/officeDocument/2006/relationships/image" Target="/ppt/media/image28.jpeg" Id="Rfb36e445beeb4e9f" /><Relationship Type="http://schemas.openxmlformats.org/officeDocument/2006/relationships/notesSlide" Target="/ppt/notesSlides/notesSlide31.xml" Id="R16b51ccd9c3845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2bbe290d54659" /><Relationship Type="http://schemas.openxmlformats.org/officeDocument/2006/relationships/image" Target="/ppt/media/image29.jpeg" Id="Rd8b87d141ca94aaa" /><Relationship Type="http://schemas.openxmlformats.org/officeDocument/2006/relationships/notesSlide" Target="/ppt/notesSlides/notesSlide32.xml" Id="Re46f2dfe3b6b4b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de0b1b7864ee3" /><Relationship Type="http://schemas.openxmlformats.org/officeDocument/2006/relationships/image" Target="/ppt/media/image30.jpeg" Id="Re1a553c6205a47ec" /><Relationship Type="http://schemas.openxmlformats.org/officeDocument/2006/relationships/notesSlide" Target="/ppt/notesSlides/notesSlide33.xml" Id="Rf3c418fae2064b6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242f8227e4d2a" /><Relationship Type="http://schemas.openxmlformats.org/officeDocument/2006/relationships/image" Target="/ppt/media/image31.jpeg" Id="R4a1fa1b6c0874ad0" /><Relationship Type="http://schemas.openxmlformats.org/officeDocument/2006/relationships/notesSlide" Target="/ppt/notesSlides/notesSlide34.xml" Id="R069cf14b53df40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9e36782f24458" /><Relationship Type="http://schemas.openxmlformats.org/officeDocument/2006/relationships/image" Target="/ppt/media/image32.jpeg" Id="R9d74d5a02b1d42bf" /><Relationship Type="http://schemas.openxmlformats.org/officeDocument/2006/relationships/notesSlide" Target="/ppt/notesSlides/notesSlide35.xml" Id="R0abeac834dfb40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0039a616a47ec" /><Relationship Type="http://schemas.openxmlformats.org/officeDocument/2006/relationships/image" Target="/ppt/media/image33.jpeg" Id="R8574c60cf88e447e" /><Relationship Type="http://schemas.openxmlformats.org/officeDocument/2006/relationships/notesSlide" Target="/ppt/notesSlides/notesSlide36.xml" Id="R2c3c9d555d9c436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d0e0a351b4783" /><Relationship Type="http://schemas.openxmlformats.org/officeDocument/2006/relationships/image" Target="/ppt/media/image34.jpeg" Id="R189c507df4434ceb" /><Relationship Type="http://schemas.openxmlformats.org/officeDocument/2006/relationships/notesSlide" Target="/ppt/notesSlides/notesSlide37.xml" Id="Rb9daad5358c643e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fb3486a1764155" /><Relationship Type="http://schemas.openxmlformats.org/officeDocument/2006/relationships/image" Target="/ppt/media/image35.jpeg" Id="R1687576925ce4cd8" /><Relationship Type="http://schemas.openxmlformats.org/officeDocument/2006/relationships/notesSlide" Target="/ppt/notesSlides/notesSlide38.xml" Id="R06214f0c1ec44d0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9d48b8ae84aba" /><Relationship Type="http://schemas.openxmlformats.org/officeDocument/2006/relationships/image" Target="/ppt/media/image36.jpeg" Id="R999772557f5743db" /><Relationship Type="http://schemas.openxmlformats.org/officeDocument/2006/relationships/notesSlide" Target="/ppt/notesSlides/notesSlide39.xml" Id="R2cd8c5e89ac44c4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6d98925da4a4e" /><Relationship Type="http://schemas.openxmlformats.org/officeDocument/2006/relationships/image" Target="/ppt/media/image37.jpeg" Id="R82c5b28ff00e4428" /><Relationship Type="http://schemas.openxmlformats.org/officeDocument/2006/relationships/notesSlide" Target="/ppt/notesSlides/notesSlide40.xml" Id="R049990dc8e6a4bb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35d8438cd4152" /><Relationship Type="http://schemas.openxmlformats.org/officeDocument/2006/relationships/notesSlide" Target="/ppt/notesSlides/notesSlide41.xml" Id="R10052081ea25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099F9-2F95-4A42-8C98-B63DF1E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IZZI KEBAB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Panduan untuk pemula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C94CB-14C6-45D2-AEC0-7EF1064B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Ikuti gambar, penanda merah, dan kotak penjelasan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F0DEF-B00E-4BB6-ADFC-D586293F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7F1"/>
                </a:solidFill>
                <a:latin typeface="Arial"/>
                <a:ea typeface="Arial"/>
                <a:cs typeface="Arial"/>
              </a:rPr>
              <a:t>Dari menyiapkan bahan dan resep, menerima stok, melayani penjualan, sampai menutup laci.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074B5-5077-4FCA-B027-568CB998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Contoh diambil dari aplikasi latihan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28BBD-6853-4F8E-80B2-4870B526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CE7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7F1"/>
                </a:solidFill>
                <a:latin typeface="Arial"/>
                <a:ea typeface="Arial"/>
                <a:cs typeface="Arial"/>
              </a:rPr>
              <a:t>Nama, harga, stok, dan transaksi adalah data contoh. Gunakan akun, cabang, harga, dan hitungan fisik usaha Anda.</a:t>
            </a:r>
          </a:p>
        </p:txBody>
      </p:sp>
    </p:spTree>
    <p:extLst>
      <p:ext uri="{BB962C8B-B14F-4D97-AF65-F5344CB8AC3E}">
        <p14:creationId xmlns:p14="http://schemas.microsoft.com/office/powerpoint/2010/main" val="1300371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6C757-0960-4475-8385-9BAA881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Kenali tugas setiap akun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61F4E-21AA-41A8-95E4-4D413D0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Izzi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B4B7B-B96F-40A5-8228-D7A6024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Menyiapkan bahan, isi kemasan, menu, harga, resep, dan penerimaan. Admin juga memeriksa pembatalan dan riwayat.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1EC98-8E8C-4DE8-9F9E-2B77A26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 Izzi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7CA2-94B2-4BDE-80C9-4F3ECC2F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Membuka laci, mencatat penjualan, menerima pembayaran, memeriksa transaksi, lalu menghitung uang dan menutup laci.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414C-0445-455F-A59B-D15CBBB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Owner dan petugas Gudang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12837-3AC1-4215-8F53-12CABFE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Owner memberi akses stock opname. Petugas Gudang yang berwenang mencatat mutasi dari stok Gudang.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142D3-974E-4AD1-AFF8-B336276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49F39-3492-4D1F-8D1F-6493749E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1535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9E69D-84B5-4770-94BF-2C423CCE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Urutan kerja yang mudah diikuti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027EC-92E3-482E-900D-8FED2DC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Sebelum berjualan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3FE3E-A3A5-434B-BAFC-E0B6D4A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Admin menyiapkan bahan → resep menu → penerimaan atau mutasi masuk. Kasir memeriksa cabang dan membuka laci.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827BB-9BDA-433A-9B8D-C52161C1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Saat berjualan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A972B-8D7B-4C32-9240-06ABA96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Pilih menu → periksa jumlah → terima pembayaran → simpan → cek nomor transaksi. Resep memotong bahan otomatis.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6DF6D-D51E-4F10-A5D2-178EC3D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Setelah berjualan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4D882-6304-461C-84B5-88DB7F46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Selesaikan pembatalan selagi laci aktif → hitung uang → tutup laci. Lakukan SO hanya dalam sesi yang diizinkan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4036C-71CF-4E07-8602-96B9F73D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79682-1FD6-4764-8C04-25F6AEB0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0468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FF6E4-20E1-4966-A7CD-4DEEBC0D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SEMUA PENGGUNA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EC76E-46FE-47B1-B3B5-FB3C033D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Masuk dengan akun Anda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EE9E3-1DC1-4FB9-ABEF-C2487BF5C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f8d8ccfcf424e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email">
            <a:extLst xmlns:a="http://schemas.openxmlformats.org/drawingml/2006/main">
              <a:ext uri="{FF2B5EF4-FFF2-40B4-BE49-F238E27FC236}">
                <a16:creationId xmlns:a16="http://schemas.microsoft.com/office/drawing/2014/main" id="{1C1ED130-DA35-4911-B51C-29AF8C99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574" y="4012704"/>
            <a:ext cx="3206353" cy="449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C6E73679-46CA-4210-AEBB-032553D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F266-3CA2-490E-853E-D2D0C44350F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222927" y="3095625"/>
            <a:ext cx="4159448" cy="114181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33D7D-13A2-4E24-B242-6580328E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Isi email akun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CB542-103E-4E25-B99D-5B13248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email yang diberikan pengelola. Akun admin dan kasir memiliki menu yang berbeda.</a:t>
            </a:r>
          </a:p>
        </p:txBody>
      </p:sp>
      <p:sp>
        <p:nvSpPr>
          <p:cNvPr id="9" name="Sorotan password">
            <a:extLst xmlns:a="http://schemas.openxmlformats.org/drawingml/2006/main">
              <a:ext uri="{FF2B5EF4-FFF2-40B4-BE49-F238E27FC236}">
                <a16:creationId xmlns:a16="http://schemas.microsoft.com/office/drawing/2014/main" id="{47DEE224-E066-4017-8CDA-B5EE3022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574" y="4762500"/>
            <a:ext cx="3206353" cy="449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F3D79D4B-3DCF-4712-B807-7DBA608A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076D0-F1AE-4237-9E6D-42AB22D8452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22927" y="4987231"/>
            <a:ext cx="4159448" cy="106114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1D661-D26C-48A7-8239-276825A5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kata sandi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882B1-6C71-40BB-B373-B423F646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Masukkan kata sandi, lalu tekan Masuk. Jika gagal, periksa penulisan email dan kata sandi.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1C00D-54E6-4B51-81C1-9F571E0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Gunakan alamat sistem Anda. Alamat localhost pada gambar hanya untuk aplikasi latihan.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EFEEE-726E-4859-B6BE-F147805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FBF54-3A41-46C0-9DBC-4E7854BD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2139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BA075-FF21-45F5-A24A-2B30109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F7B2B-C218-41F4-94A2-7453FCFC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Kenali cabang dan menu utama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5E81D-DB59-4E3C-B24B-8A01280C5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acd1c7adc485c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branch">
            <a:extLst xmlns:a="http://schemas.openxmlformats.org/drawingml/2006/main">
              <a:ext uri="{FF2B5EF4-FFF2-40B4-BE49-F238E27FC236}">
                <a16:creationId xmlns:a16="http://schemas.microsoft.com/office/drawing/2014/main" id="{8739D0F4-0312-48A0-967E-CD0A991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162" y="2837259"/>
            <a:ext cx="7786985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3752D86-4B2A-4F12-B426-BA8F07E8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1E58D-F007-4FD2-8CA5-0ECD213D154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700147" y="3006276"/>
            <a:ext cx="682228" cy="893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2393D-5698-499F-A531-D62A9463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Periksa cabang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4A4AA-0F90-413C-BFA0-722C8E03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Pastikan nama cabang sesuai tempat Anda bekerja sebelum mencatat stok atau transaksi.</a:t>
            </a:r>
          </a:p>
        </p:txBody>
      </p:sp>
      <p:sp>
        <p:nvSpPr>
          <p:cNvPr id="9" name="Sorotan ingredients">
            <a:extLst xmlns:a="http://schemas.openxmlformats.org/drawingml/2006/main">
              <a:ext uri="{FF2B5EF4-FFF2-40B4-BE49-F238E27FC236}">
                <a16:creationId xmlns:a16="http://schemas.microsoft.com/office/drawing/2014/main" id="{AF60822E-1F38-4951-BCB9-A127B949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447" y="3433065"/>
            <a:ext cx="453861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8E2500CB-9D70-46FF-A7F1-B94C23BA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411C4-20E8-464A-A26E-38C429B9E42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82308" y="3569392"/>
            <a:ext cx="2400067" cy="247898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03B90-86E1-4515-A45B-FD7BDD6A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Mulai dari bahan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F1497-B44C-4009-A964-DDE56A8D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Bahan adalah barang yang dipakai membuat menu: daging, tortilla, saus, dan sebagainya.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65228-69F0-4C2B-BFCC-D1DC9505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Urutan persiapan: daftarkan bahan, atur resep menu, lalu pastikan stok sudah diterima.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57179-0D8F-48E2-AD2D-8F23A2D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48BE2-0B3B-43AB-A270-6CDFC0A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3384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B7679-23E5-4E9E-87AA-57DD577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494B1-B34E-463D-B092-43EB269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Bahan &amp; Satuan Kemasan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AEEA7-9CD1-4DD0-B330-723DC2FF5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1b83818a743f3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add">
            <a:extLst xmlns:a="http://schemas.openxmlformats.org/drawingml/2006/main">
              <a:ext uri="{FF2B5EF4-FFF2-40B4-BE49-F238E27FC236}">
                <a16:creationId xmlns:a16="http://schemas.microsoft.com/office/drawing/2014/main" id="{567EE525-E5ED-4DFD-8576-9C4F646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535" y="2837259"/>
            <a:ext cx="1280192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FE38A56-71F3-46E5-B24B-91A2224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CD7F8-D3E5-4899-8038-DA8880AED09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575727" y="3071812"/>
            <a:ext cx="806648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E777F-D711-4CC9-A113-F8602519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Tambah bahan baru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4170A-4CDA-4446-992D-D2874CFA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Tekan Tambah bahan jika bahan belum terdaftar. Periksa daftar dahulu agar bahan tidak dibuat dua kali.</a:t>
            </a:r>
          </a:p>
        </p:txBody>
      </p:sp>
      <p:sp>
        <p:nvSpPr>
          <p:cNvPr id="9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743DF934-04E7-49ED-8CD0-624324B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924300"/>
            <a:ext cx="6054310" cy="4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2846C66A-F5DC-44E3-8A33-CD627AF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15779-E7D8-4E73-8C26-3DA37F95699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37731" y="4126111"/>
            <a:ext cx="2244644" cy="192226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0ECA8-9D61-413B-AB92-9312B04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Cari bahan yang 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FA98C-794B-42EA-A8AB-A3481808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Ketik nama atau kode, lalu tekan Cari. Untuk mengubah bahan yang ada, gunakan tombol Edit.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FAAC9-BC68-4BDC-B00C-B7DDC3D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Satu bahan dapat dipakai pada beberapa resep. Nama dan kode sebaiknya mudah dikenali petugas.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862AF-FA9E-4FFC-914E-62E499F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0FF76-66D4-44BC-BC76-32EE68A3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7858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330A8-579F-4A52-A07E-15BE3A77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8053B-3A4F-49E3-BB12-1CBB2AFB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Bedakan satuan dasar dan kemasan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AC277-7005-42E4-BD63-BD1C1F26E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5473144e44673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base">
            <a:extLst xmlns:a="http://schemas.openxmlformats.org/drawingml/2006/main">
              <a:ext uri="{FF2B5EF4-FFF2-40B4-BE49-F238E27FC236}">
                <a16:creationId xmlns:a16="http://schemas.microsoft.com/office/drawing/2014/main" id="{2FDD8225-8677-469E-88F5-2D2A039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190875"/>
            <a:ext cx="7322046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ABC997A9-D9BB-47EA-A0AE-B93B176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5FA43-0002-4FE5-9CAC-E4297A8B3C0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3265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209D6-3968-4BFE-A156-E591DB61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Satuan dasar resep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97AE1-9554-4CB2-A14C-1B380324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satuan yang dipakai menghitung stok dan takaran resep. Pada contoh ini: gram.</a:t>
            </a:r>
          </a:p>
        </p:txBody>
      </p:sp>
      <p:sp>
        <p:nvSpPr>
          <p:cNvPr id="9" name="Sorotan factor">
            <a:extLst xmlns:a="http://schemas.openxmlformats.org/drawingml/2006/main">
              <a:ext uri="{FF2B5EF4-FFF2-40B4-BE49-F238E27FC236}">
                <a16:creationId xmlns:a16="http://schemas.microsoft.com/office/drawing/2014/main" id="{51082F1C-21B7-4187-94DD-98CCB77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4363045"/>
            <a:ext cx="3633639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C5F8B905-8194-4241-9B16-E75694FA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88983-29D8-4AFB-B478-C3D3C0D3826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405468" y="4604147"/>
            <a:ext cx="976907" cy="14442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FA905-BDB6-4434-8091-C74EAE8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satu kemasan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7694F-F0F7-45E2-820E-7286DFB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Kemasan 2 kg berisi 2000 gram. Ketik 2000 pada kolom isi; nama kemasan hanya keterangan.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18ADD-9E9F-4E87-9DE5-75841FA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 lain: 1 pak tortilla berisi 20 pcs. Satuan master bahan menjadi acuan stok dan resep.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B2F94-A008-4A1B-807B-BC221B7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29BA3-61D6-45E2-AF9D-3A0EF446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0551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89F65-06AC-4511-8564-D88C83F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703C-EEDE-40FE-A1E6-9664B4C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bahan lalu simpan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30462-5ADB-44F1-819F-0EEF76E67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d7df523e2430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D540EC94-C91F-4D9F-A834-7D96A16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1933575"/>
            <a:ext cx="1241310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388F5ECD-DC38-4969-9D6A-6FAA1A6D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F27D0-CCC0-4203-AD93-77626819750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324731" y="2168128"/>
            <a:ext cx="7057644" cy="216574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21985-D2AC-4636-8812-BE462DAD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Simpan bahan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8A599-4092-4D1F-84B4-7A92EBB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kode, nama, satuan dasar, satuan penerimaan, dan isi kemasan sebelum menekan Simpan bahan.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C7EAA-3306-44CA-B920-66BC5C0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Mendaftarkan bahan belum menambah stok. Stok bertambah ketika penerimaan atau mutasi masuk dicatat.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9DE35-F401-40BB-9768-6AC31404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2EC5B-54B8-4316-B1A1-BC06D9D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4103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01984-B21D-4CA8-82DB-70F33D3A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532EE-B367-47EC-B124-867F759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Menu, Harga &amp; Gramasi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83E69-6036-4A18-9BA7-54056CD45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e53ea9d33448a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add">
            <a:extLst xmlns:a="http://schemas.openxmlformats.org/drawingml/2006/main">
              <a:ext uri="{FF2B5EF4-FFF2-40B4-BE49-F238E27FC236}">
                <a16:creationId xmlns:a16="http://schemas.microsoft.com/office/drawing/2014/main" id="{B4A9D7DE-3F7A-4076-AAD6-9CAA257F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603" y="2837259"/>
            <a:ext cx="1229544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090F259B-E66E-48D9-B640-A3599A0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95668-084D-4225-9680-B62B2601C92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700147" y="3071812"/>
            <a:ext cx="682228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EA95B-C49E-488C-B282-CE5C3BA6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Buat menu baru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441B0-81AA-4E05-B5C8-D030A145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Tambah menu untuk menu jual yang belum tersedia, misalnya Kebab Original.</a:t>
            </a:r>
          </a:p>
        </p:txBody>
      </p:sp>
      <p:sp>
        <p:nvSpPr>
          <p:cNvPr id="9" name="Sorotan edit">
            <a:extLst xmlns:a="http://schemas.openxmlformats.org/drawingml/2006/main">
              <a:ext uri="{FF2B5EF4-FFF2-40B4-BE49-F238E27FC236}">
                <a16:creationId xmlns:a16="http://schemas.microsoft.com/office/drawing/2014/main" id="{61497ACE-AAA8-4E6C-94A0-155E33A8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170" y="5600700"/>
            <a:ext cx="1113718" cy="665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E2A9985C-9C97-4CD0-A615-92E04A6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961E3-1A07-487D-856F-65F1AD0D301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29888" y="5933480"/>
            <a:ext cx="852487" cy="1148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7DD76-6217-45AD-A32B-FE54C26B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Perbaiki menu yang 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AF065-9AF1-44FF-8878-A36AF6FF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Edit menu &amp; resep untuk menyesuaikan harga atau takaran bahan menu tersebut.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300A0-81AD-4A18-9DED-78898AC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Menu adalah barang yang dijual ke pelanggan. Gramasi berarti takaran bahan untuk membuat satu menu.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E7264-DF8F-431E-90FC-9584E50F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DA01C-692F-4D3E-8FD3-7827F1F7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9218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7993A-4A61-42E6-A683-F08ABDD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7A30B-1E10-44EB-A9E3-F2B937C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nama menu dan harga jual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07075-49CB-4A08-8F8F-2C8CBDED1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f62ab93024c4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ame">
            <a:extLst xmlns:a="http://schemas.openxmlformats.org/drawingml/2006/main">
              <a:ext uri="{FF2B5EF4-FFF2-40B4-BE49-F238E27FC236}">
                <a16:creationId xmlns:a16="http://schemas.microsoft.com/office/drawing/2014/main" id="{7BEE8ECD-3E6A-41ED-B5F7-AA957B18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3825971"/>
            <a:ext cx="3507581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68B3A4F-AB72-4611-837F-A07B657E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5443B-FE20-405B-BCE4-E1284A03C3E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279410" y="3095625"/>
            <a:ext cx="1102965" cy="97144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B314A-F24C-4B77-A95E-47F53EF6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Nama yang dibaca kasir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D9F97-7A15-43F7-9A11-8ABED17D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nama yang jelas. Lengkapi kode unik dan kelompok menu agar pencarian lebih mudah.</a:t>
            </a:r>
          </a:p>
        </p:txBody>
      </p:sp>
      <p:sp>
        <p:nvSpPr>
          <p:cNvPr id="9" name="Sorotan price">
            <a:extLst xmlns:a="http://schemas.openxmlformats.org/drawingml/2006/main">
              <a:ext uri="{FF2B5EF4-FFF2-40B4-BE49-F238E27FC236}">
                <a16:creationId xmlns:a16="http://schemas.microsoft.com/office/drawing/2014/main" id="{29AA0BC7-D511-4FDA-91AA-BF058AF8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4559396"/>
            <a:ext cx="3507581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A733074-CDD2-41FA-913A-E6673700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35307-C0D2-4B81-B511-4C53B97C4E7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279410" y="4800498"/>
            <a:ext cx="1102965" cy="124787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5691F-AE23-40D6-9B49-AB2ACC7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Harga satu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9D23F-67B6-48EE-8540-8F2973B4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Ketik harga dalam angka rupiah. Contoh: 15000 berarti Rp15.000 untuk satu Kebab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02998-CCD1-4FE8-951B-5C1E504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Harga pada contoh adalah data latihan. Gunakan harga yang ditetapkan usaha Anda.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F2978-4FC1-44F9-9901-B2A65CE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820AD-246D-40D3-BFFF-6DAC93F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2121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A1EA8-8A9F-4A45-ABD8-0B0256C6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C06F9-F4B7-4768-81BA-3EB68752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resep untuk satu menu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3431-0F81-499F-BB62-AFA4AB323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94fe2b5604ce9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meat">
            <a:extLst xmlns:a="http://schemas.openxmlformats.org/drawingml/2006/main">
              <a:ext uri="{FF2B5EF4-FFF2-40B4-BE49-F238E27FC236}">
                <a16:creationId xmlns:a16="http://schemas.microsoft.com/office/drawing/2014/main" id="{7FDAD826-5260-48CF-88C8-060BDB7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4405406"/>
            <a:ext cx="6794897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13228DAF-D744-4E28-8568-9CC9056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46AA5-4DEA-4E77-84DE-CECE37A3E51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141893" y="3095625"/>
            <a:ext cx="1240482" cy="15508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59AA4-51AB-4E19-B0C2-96FD6AC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Takaran daging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C3C03-C485-4E1E-9519-24BB5B3C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satu Kebab Original memakai 40 gram daging. Isi 40 pada bahan daging.</a:t>
            </a:r>
          </a:p>
        </p:txBody>
      </p:sp>
      <p:sp>
        <p:nvSpPr>
          <p:cNvPr id="9" name="Sorotan tortilla">
            <a:extLst xmlns:a="http://schemas.openxmlformats.org/drawingml/2006/main">
              <a:ext uri="{FF2B5EF4-FFF2-40B4-BE49-F238E27FC236}">
                <a16:creationId xmlns:a16="http://schemas.microsoft.com/office/drawing/2014/main" id="{6F02978E-8836-4468-BC68-7CC338B2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6314275"/>
            <a:ext cx="6794897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BDA78B42-D036-4D87-B1F4-357D273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9081B-9577-4344-8F30-28FC39AA1A7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141893" y="6048375"/>
            <a:ext cx="1240482" cy="5070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EAABB-FBE8-467F-9886-B50FAE7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Takaran tortilla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921C8-D637-4FD6-B334-794B9BF7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satu menu memakai 1 pcs tortilla. Isi takaran sesuai satuan bahan, bukan jumlah kemasan.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BAB53-0E51-472F-9C84-27044EA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terjual 2 menu, kebutuhan daging menjadi 2 × 40 = 80 gram; tortilla menjadi 2 pcs.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2D092-E8F7-41FA-B5C9-1087E05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B13D0-D4DC-4B51-940F-DA158598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9534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ECA3B-9B68-4910-ADEE-1185430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F06B3-91B3-4B94-A2D2-8B08109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Lengkapi semua bahan dalam resep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155D-C720-43D5-8241-3452D856D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795fef94e436d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add">
            <a:extLst xmlns:a="http://schemas.openxmlformats.org/drawingml/2006/main">
              <a:ext uri="{FF2B5EF4-FFF2-40B4-BE49-F238E27FC236}">
                <a16:creationId xmlns:a16="http://schemas.microsoft.com/office/drawing/2014/main" id="{965EA337-508A-4E98-AF4C-610BC43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4808135"/>
            <a:ext cx="1399189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35FB9BE4-BD50-4C00-AE49-9D1DC58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3B872-B80C-4150-8F8F-3F507309BA5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608668" y="3095625"/>
            <a:ext cx="6773707" cy="184883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1DD75-0E98-45E9-A49C-F2F702B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Tambahkan bahan 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4C233-17E2-4653-841E-3D2E4127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Masukkan saus, sayuran, dan seluruh bahan yang memang dipakai. Setiap bahan cukup satu baris.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AFD20315-CD47-437D-8EEB-7868965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5757658"/>
            <a:ext cx="1649565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52E9646A-094A-4604-8079-F69F42F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54883-29A6-46AD-ABC8-5D958332C04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9044" y="5992211"/>
            <a:ext cx="6523331" cy="5616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9CFED-41E3-41B8-9CE8-9AADBA1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menu &amp; resep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EFA53-6104-4B7C-A5D5-CDE530C1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Aktifkan menu jika sudah siap dijual. Setelah disimpan, kasir dapat memakai menu sesuai stok bahan.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B5375-E2DB-4072-8E1A-790B9A8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Perubahan resep berlaku untuk transaksi berikutnya. Rincian resep transaksi lama tetap tersimpan.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A3836-E730-4D77-96BC-EC39CC57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369F2-EA6D-4DA0-B4E0-D1EC8D2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69503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9E860-8B3A-4874-B335-2B2F1187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F3967-0FFC-42D1-A966-CF1ADD0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Catat bahan yang sudah diterima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808B0-0170-40B5-877F-61BBF23BC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fc41ca06c47b1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origin">
            <a:extLst xmlns:a="http://schemas.openxmlformats.org/drawingml/2006/main">
              <a:ext uri="{FF2B5EF4-FFF2-40B4-BE49-F238E27FC236}">
                <a16:creationId xmlns:a16="http://schemas.microsoft.com/office/drawing/2014/main" id="{C9FD0472-2D5E-4A5E-9825-C5578993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176860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E747BA91-E321-47A8-AE8F-5FCFF083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0EDE-B50A-4627-9793-90B51D4DF70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332233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4E6A0-CC41-4DFC-963C-925D0294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Tulis asal barang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88A6A-48AA-405E-8ED0-7B515414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nama pemasok atau keterangan dokumen. Lengkapi nomor bukti jika ada dan catatan kondisi barang.</a:t>
            </a:r>
          </a:p>
        </p:txBody>
      </p:sp>
      <p:sp>
        <p:nvSpPr>
          <p:cNvPr id="9" name="Sorotan time">
            <a:extLst xmlns:a="http://schemas.openxmlformats.org/drawingml/2006/main">
              <a:ext uri="{FF2B5EF4-FFF2-40B4-BE49-F238E27FC236}">
                <a16:creationId xmlns:a16="http://schemas.microsoft.com/office/drawing/2014/main" id="{85D884EF-2E6B-4401-83C0-221CD8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29" y="5443435"/>
            <a:ext cx="3633639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F5EFD467-BA68-42CE-8416-4450AAB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B38BF-E826-4A40-9C6B-F8BE91B8CD6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405468" y="5684537"/>
            <a:ext cx="976907" cy="363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0D686-09B6-4FD2-AE37-84A328F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Periksa tanggal dan jam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8F2AE-585F-4BBC-862A-BB2D3825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Tanggal dan jam menunjukkan kapan barang diterima. Jam pada sistem memakai WIB.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0FAAB-B5A0-47AF-94B3-902CA33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Terima Bahan menambah stok Izzi saja. Untuk perpindahan dari stok Gudang/cabang lain, gunakan Mutasi Stok.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45945-06B4-4059-A5F0-732B4A86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FDACE-0AF3-4E0F-B979-A119DFCB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105692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5EC27-64D6-4A76-910F-9F367EA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87BD7-A966-4FBB-8E18-24A82789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bahan, satuan input, dan jumlah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6EDD8-011B-4001-85AF-77002D5CF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aa3e951574c6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unit">
            <a:extLst xmlns:a="http://schemas.openxmlformats.org/drawingml/2006/main">
              <a:ext uri="{FF2B5EF4-FFF2-40B4-BE49-F238E27FC236}">
                <a16:creationId xmlns:a16="http://schemas.microsoft.com/office/drawing/2014/main" id="{C6B6A488-401D-4759-982D-87BB6CC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492446"/>
            <a:ext cx="3512493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33258728-092C-4179-9F91-05B735D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B8B96-B048-4582-8B9E-10356E8AE6D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733431" y="3095625"/>
            <a:ext cx="4648944" cy="262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1D4E-A403-446B-828F-0812855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cara menghitung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38FC4-F883-410E-9E40-FE61304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kemasan jika menghitung kemasan utuh. Pilih satuan dasar jika barang ditimbang langsung dalam gram.</a:t>
            </a:r>
          </a:p>
        </p:txBody>
      </p:sp>
      <p:sp>
        <p:nvSpPr>
          <p:cNvPr id="9" name="Sorotan quantity">
            <a:extLst xmlns:a="http://schemas.openxmlformats.org/drawingml/2006/main">
              <a:ext uri="{FF2B5EF4-FFF2-40B4-BE49-F238E27FC236}">
                <a16:creationId xmlns:a16="http://schemas.microsoft.com/office/drawing/2014/main" id="{353457FB-491C-48A0-89A7-C7CC9B18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458" y="5492446"/>
            <a:ext cx="3512493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63894C1-CDDA-4A1F-9D32-D87731EE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3727A-E65D-44B4-B472-61D0E90EFD5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267951" y="5733548"/>
            <a:ext cx="1114424" cy="31482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DF5E7-FF77-4B7C-A569-FF47AABE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jumlah yang diterima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57CE0-8BAB-4A9F-8DB6-3E31C46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1 kemasan 2 kg menambah 2000 gram. Periksa hasil konversi yang tampil di bawah kolom.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66E85-9088-47A7-9BDE-30352E82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Jangan mengisi 2000 saat satuan input masih kemasan 2 kg. Angka tersebut berarti 2000 kemasan.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4064D-FA64-408C-B0FA-1A826541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71B51-EC45-443E-B80D-0C1AE43D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93108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D3D98-E750-4578-8731-C5DC1537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79E50-B1F7-4AC3-A66C-B44B6EE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Simpan satu kali untuk satu penerimaan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523B5-4707-4366-8D80-CAF2B16C6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fad08d80a4ff8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45824F1E-F915-4B2B-A163-355B991E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756295"/>
            <a:ext cx="2438651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55FF6A35-C717-4336-B832-F3A4941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8A29A-B6AD-4B69-88EF-1373D8AD078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522072" y="4333875"/>
            <a:ext cx="5860303" cy="265697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1BDDE-91FC-488B-ADF7-7D3BC2C2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Tambah stok penerimaan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4E552-4532-49E3-B396-1448F1C5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Tekan setelah barang dan jumlahnya diperiksa. Tunggu bukti penerimaan muncul sebelum membuat catatan berikutnya.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B6300-A805-4DE4-A14D-721EB99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Jangan mencatat barang yang sama lagi melalui Terima Bahan jika sudah masuk lewat mutasi.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129E6-97D7-47B2-8674-E91BD9A2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7F155-507B-433B-AD69-A804BE41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344661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8F631-8B95-4CDD-B196-F3286C71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74F1-6CB7-4503-8988-CB745590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bukti dan perubahan saldo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A4E6F-E54E-4705-9C90-BC877FBED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adbd08f7a4196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document">
            <a:extLst xmlns:a="http://schemas.openxmlformats.org/drawingml/2006/main">
              <a:ext uri="{FF2B5EF4-FFF2-40B4-BE49-F238E27FC236}">
                <a16:creationId xmlns:a16="http://schemas.microsoft.com/office/drawing/2014/main" id="{E3054BB2-E488-4D2E-9BB9-E828DCB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4971948"/>
            <a:ext cx="1843664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9D3375DA-C165-4BF1-BC05-30EB8541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D818F-8F90-4219-BC9A-EB7ABABC02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064602" y="4333875"/>
            <a:ext cx="6317773" cy="7580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6FF0C-5AF2-463E-A33A-0DA0384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Nomor penerimaan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5BF02-6739-48E1-9FFE-9BBFB654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IZ-TERIMA menjadi rujukan catatan. Cocokkan asal, waktu, jumlah, dan saldo sebelum/sesudah.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31B36-58BD-4DE2-91CE-C35AECB9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saldo daging 4000 gram ditambah 2000 gram menjadi 6000 gram.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5E7D5-3119-4290-9BD2-A7458A23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BB9A1-EB92-4B31-9480-940DF36D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992714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FAEB6-DC05-40C8-95AD-242076C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40C21-8446-4ABB-8277-71843F07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Lihat stok bahan cabang aktif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18592-E42E-43CB-9748-69F3004E2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bdd4d67a046b6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tock">
            <a:extLst xmlns:a="http://schemas.openxmlformats.org/drawingml/2006/main">
              <a:ext uri="{FF2B5EF4-FFF2-40B4-BE49-F238E27FC236}">
                <a16:creationId xmlns:a16="http://schemas.microsoft.com/office/drawing/2014/main" id="{4706EC3E-1638-4A3C-A85C-C6C6801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744663"/>
            <a:ext cx="2129135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A1AC151-C74E-40F0-BEA3-1DB75CAB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85D6-D94E-46E4-9B01-32FF53E60E4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350073" y="3095625"/>
            <a:ext cx="6032302" cy="2818056"/>
          </a:xfrm>
          <a:prstGeom xmlns:a="http://schemas.openxmlformats.org/drawingml/2006/main" prst="bentConnector3">
            <a:avLst>
              <a:gd name="adj1" fmla="val 9621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FE7D0-A264-460D-A028-7AFA36DF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saldo dan satuan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E15B-2758-484D-A42C-8387E429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Angka stok memakai satuan dasar bahan. Pada contoh, daging tersedia 6000 gram.</a:t>
            </a:r>
          </a:p>
        </p:txBody>
      </p:sp>
      <p:sp>
        <p:nvSpPr>
          <p:cNvPr id="9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3F969230-EC29-463B-A5F9-88BEF34E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690365"/>
            <a:ext cx="6054310" cy="4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748934D0-F132-4E01-BBE8-F94D0FD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F5EDA-8FDE-414F-8EBF-28A7DE4D3BD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37731" y="4892176"/>
            <a:ext cx="2244644" cy="115619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0D1B3-AB81-4D6A-A31F-90F3100F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Cari bahan tertentu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110EB-A7A2-41F6-978B-4574AEB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Cari nama atau kode untuk mempercepat pemeriksaan. Periksa cabang sebelum membandingkan stok fisik.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3D419-07B3-42F2-8762-6DC43AA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Stok per cabang dapat berbeda. Perkiraan jumlah menu tersedia dihitung dari bahan dalam resep.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75EB2-6198-49B5-80BF-53EFF066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ABE1B-945E-4BCC-A89B-517B8C62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340627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27EA4-3AFA-4EB4-8C3B-079DA075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6623A-84C4-4EC3-ADA4-2AD520ED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laci sebelum mulai menjual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CA75A-C809-472C-B786-7C250FE8D5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629c327a45b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ash">
            <a:extLst xmlns:a="http://schemas.openxmlformats.org/drawingml/2006/main">
              <a:ext uri="{FF2B5EF4-FFF2-40B4-BE49-F238E27FC236}">
                <a16:creationId xmlns:a16="http://schemas.microsoft.com/office/drawing/2014/main" id="{DF2EE595-1BA5-488F-A3ED-2975F0F9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402336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D1C3A54-D256-442C-84D7-F9E727B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63515-8FCE-4824-B010-ACEEB45C4C6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0FE3F-CE0A-4897-B0E4-7B5A587D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Masukkan modal awal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D97C0-BFF9-4F6E-92EF-46C2DAE6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uang tunai yang benar-benar ada pada awal shift. Contoh: 100000 berarti Rp100.000.</a:t>
            </a:r>
          </a:p>
        </p:txBody>
      </p:sp>
      <p:sp>
        <p:nvSpPr>
          <p:cNvPr id="9" name="Sorotan open">
            <a:extLst xmlns:a="http://schemas.openxmlformats.org/drawingml/2006/main">
              <a:ext uri="{FF2B5EF4-FFF2-40B4-BE49-F238E27FC236}">
                <a16:creationId xmlns:a16="http://schemas.microsoft.com/office/drawing/2014/main" id="{AC817E1C-70C9-41EE-B81D-55E4C050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939308"/>
            <a:ext cx="916651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F1D1BAB0-DA08-45B4-82E5-666C298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7AD1E-5506-4C39-B53C-9DC17F1E856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072" y="5173861"/>
            <a:ext cx="7382303" cy="87451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0DF1A-969A-4F08-A69B-7101A49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Tekan Buka laci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681D9-1991-4218-95BA-11D35C20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Setelah laci aktif, lanjutkan ke kasir. Selesaikan laci yang masih aktif sebelum membuka laci baru.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9163B-CBF3-4231-B3BE-269C4BFC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Modal awal adalah uang awal laci, bukan omzet dan bukan saldo bahan.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0417E-B3D5-4960-8F09-2E0D3D12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E5F85-E466-4EEC-B926-E92FBB0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901940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5E239-C22C-4028-BEB9-D79FB4A2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18F36-EB49-4186-9063-9A84700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menu pesanan pelanggan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AEE1-5053-4A57-B5F8-559D3E913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9aab441d147b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865CEDD9-5784-4C91-9FFA-9ECDB20B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821436"/>
            <a:ext cx="3447008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EF64DC9-2A08-435E-9F51-79FB874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DA3D5-B858-4BCE-B9D3-8CDB90C4931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530429" y="3095625"/>
            <a:ext cx="4851946" cy="1966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D930F-52D0-4FB6-8CC4-1167E4E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Cari nama atau kode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D2032-A928-4BDE-9EBF-3B15B8BD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pencarian jika menu belum terlihat. Pilihan halaman berikutnya tersedia di bagian bawah katalog.</a:t>
            </a:r>
          </a:p>
        </p:txBody>
      </p:sp>
      <p:sp>
        <p:nvSpPr>
          <p:cNvPr id="9" name="Sorotan menu">
            <a:extLst xmlns:a="http://schemas.openxmlformats.org/drawingml/2006/main">
              <a:ext uri="{FF2B5EF4-FFF2-40B4-BE49-F238E27FC236}">
                <a16:creationId xmlns:a16="http://schemas.microsoft.com/office/drawing/2014/main" id="{B6083EFD-B2B9-4709-805F-0C0671F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939" y="5358408"/>
            <a:ext cx="1712491" cy="1235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CD9B16CC-3FBA-4DD0-ADBE-9A51B58D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71CBC-694A-4505-BA32-11B25851BB3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30430" y="5976045"/>
            <a:ext cx="4851945" cy="7233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7C70E-2403-45E9-A4C6-697E44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Tekan menu yang dipesan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A51D0-F23A-4A7D-A347-7403372B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Menu masuk ke daftar pesanan. Angka tersedia adalah perkiraan berdasarkan stok bahan saat itu.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231A4-05B3-41F2-A315-2CF902FE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Saat pembayaran, sistem memeriksa kebutuhan gabungan semua menu di pesanan.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99EB2-E16F-4BDD-A6D5-CC370CC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5F782-DFE2-4343-88A5-922A8B4B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363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2BEF4-7C27-45EA-882A-385D78A5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9ADC-5443-471E-BDD1-173FA0F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isi dan jumlah pesanan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141BF-8076-4565-8A35-7C7F19AE7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d770ae38a4630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quantity">
            <a:extLst xmlns:a="http://schemas.openxmlformats.org/drawingml/2006/main">
              <a:ext uri="{FF2B5EF4-FFF2-40B4-BE49-F238E27FC236}">
                <a16:creationId xmlns:a16="http://schemas.microsoft.com/office/drawing/2014/main" id="{7A70DBAF-8C3F-4D5C-98C4-07323911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234" y="4467820"/>
            <a:ext cx="862013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C0E149B5-9751-4AD0-974D-B37D336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00774-2804-48B0-B23E-94DBBA20316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925247" y="3095625"/>
            <a:ext cx="3457128" cy="1508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1FACE-913A-45A0-B0BD-C7E9341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Isi jumlah 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48E82-46D7-40BC-904E-E7AA0D09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2 Kebab Original × Rp15.000 menghasilkan total Rp30.000.</a:t>
            </a:r>
          </a:p>
        </p:txBody>
      </p:sp>
      <p:sp>
        <p:nvSpPr>
          <p:cNvPr id="9" name="Sorotan remove">
            <a:extLst xmlns:a="http://schemas.openxmlformats.org/drawingml/2006/main">
              <a:ext uri="{FF2B5EF4-FFF2-40B4-BE49-F238E27FC236}">
                <a16:creationId xmlns:a16="http://schemas.microsoft.com/office/drawing/2014/main" id="{83FB39FA-9FBB-4540-9703-671AFCD9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040" y="4467820"/>
            <a:ext cx="444652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B44A0385-1662-4CC5-AD51-92F2835D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61BF0-BA9A-478C-A916-A9DFA80462F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300692" y="4604147"/>
            <a:ext cx="1081683" cy="14442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B910E-61D8-4DBA-B74E-C950A4BF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Hapus pilihan yang keliru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7739A-723C-451B-AD48-8524D47D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Hapus sebelum pembayaran jika menu salah. Periksa kembali pesanan bersama pelanggan.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9017B-2D95-4655-9568-F1DDCBE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Mengubah pesanan di layar belum mengurangi stok. Pengurangan terjadi setelah pembayaran berhasil disimpan.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0A2A1-223C-4475-BC23-B83BF31A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0A1B2-5318-4214-976C-F92D7AB6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66943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002E5-9631-4A7A-8586-A38A5E14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F1F19-6577-45D8-BD6A-86A43A60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Catat pembayaran tunai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D8C78-EE5D-4485-BF26-B3E5D6D22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80df4d5d1472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method">
            <a:extLst xmlns:a="http://schemas.openxmlformats.org/drawingml/2006/main">
              <a:ext uri="{FF2B5EF4-FFF2-40B4-BE49-F238E27FC236}">
                <a16:creationId xmlns:a16="http://schemas.microsoft.com/office/drawing/2014/main" id="{0DF8E775-88AF-4339-BD89-B75FFF03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5305918"/>
            <a:ext cx="3447008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32DAA1E4-D2CC-4B6F-A73A-644BC687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7C1C5-6FCA-4053-AE69-DB52FD879BD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44157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BFA64-277D-40F4-A406-C309F82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Tunai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0D1FF-ADDF-4643-B4C9-7CA9A1B5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pilihan ini jika uang diterima secara tunai. Nama pelanggan boleh dikosongkan.</a:t>
            </a:r>
          </a:p>
        </p:txBody>
      </p:sp>
      <p:sp>
        <p:nvSpPr>
          <p:cNvPr id="9" name="Sorotan cash">
            <a:extLst xmlns:a="http://schemas.openxmlformats.org/drawingml/2006/main">
              <a:ext uri="{FF2B5EF4-FFF2-40B4-BE49-F238E27FC236}">
                <a16:creationId xmlns:a16="http://schemas.microsoft.com/office/drawing/2014/main" id="{2B278998-65F9-485C-8DFE-A42DB2E0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6019698"/>
            <a:ext cx="3447008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9C357A20-786C-480E-9FE2-F660E52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B0F0D-F019-4D97-B046-CCE485824C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405467" y="6048375"/>
            <a:ext cx="976908" cy="2124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C961A-8F58-4FAF-BBAD-455C865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Isi uang yang diterima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092B3-94FC-4B05-B424-950C9F5F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Untuk total Rp30.000 dan uang Rp50.000, kembalian yang tampil adalah Rp20.000.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62603-DBAF-4B81-AC45-1442E547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Berikan kembalian sesuai angka yang tampil. Pastikan uang telah diterima sebelum menyimpan pembayaran.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03274-2E9E-401B-8B1B-43EABC9E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3E6F3-456D-42E9-9BDF-4F21C531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818630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2D23C-01A5-45FD-9443-14DA3E39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C080F-A1FC-4BA3-A31A-50AAC8D2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Catat pembayaran transfer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FD714-0715-4EB8-9D0E-ADB7AD40F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73d4297f54783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method">
            <a:extLst xmlns:a="http://schemas.openxmlformats.org/drawingml/2006/main">
              <a:ext uri="{FF2B5EF4-FFF2-40B4-BE49-F238E27FC236}">
                <a16:creationId xmlns:a16="http://schemas.microsoft.com/office/drawing/2014/main" id="{80D6A981-CD44-498B-8ED0-0DA28D4B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5109465"/>
            <a:ext cx="3447008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910895D8-F331-40DD-BBED-50BEE64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2E0AA-FE9B-419B-85AE-6A75B338F1E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24511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22C51-C41F-421C-8594-851DEEC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ACEC8-5523-4B32-8B67-9F2E338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dana sudah masuk sesuai total pesanan. Pembayaran transfer tidak menambah uang tunai di laci.</a:t>
            </a:r>
          </a:p>
        </p:txBody>
      </p:sp>
      <p:sp>
        <p:nvSpPr>
          <p:cNvPr id="9" name="Sorotan proof">
            <a:extLst xmlns:a="http://schemas.openxmlformats.org/drawingml/2006/main">
              <a:ext uri="{FF2B5EF4-FFF2-40B4-BE49-F238E27FC236}">
                <a16:creationId xmlns:a16="http://schemas.microsoft.com/office/drawing/2014/main" id="{F04404B4-51D2-4285-81F3-F4C8C7BD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5823245"/>
            <a:ext cx="3447008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4B753743-72A4-49D5-A4D8-B28CC76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23D1C-FEA7-4E0D-88D7-825EA730611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405467" y="6048375"/>
            <a:ext cx="976908" cy="1597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9C3D5-1ECE-49F6-8CAC-EFBB6F07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Tulis keterangan bukti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9C31A-D0BF-4601-8B0D-1806B842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atau keterangan bukti transfer boleh diisi untuk memudahkan penelusuran transaksi.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5E769-844D-4BAB-9EBE-D20D0C7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 layar ini menunjukkan total Rp30.000. Transaksi latihan berikutnya disimpan dengan pembayaran tunai.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61A69-053B-4B82-9ACD-4CCB022F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C3D72-64E0-41FB-A88A-CD9C2D44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3896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D3760-6AC0-40DD-A97C-3AAE4642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4318E-670D-40D3-B787-B8FE1810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Simpan pembayaran dan potong bahan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FB135-C181-461E-9DB5-5380DA8C4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370c027e64aa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8024EA05-F94D-4295-BAAD-BA44633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459" y="6753123"/>
            <a:ext cx="3447008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D496913-5CF2-4463-9E94-578F0E2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8673C-AF32-41C9-B2A2-BB81935E2EF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4333875"/>
            <a:ext cx="976908" cy="265380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8DEB0-C704-45FA-803A-4690D3A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Tekan setelah diperiksa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8F2A6-05C1-46F6-A6D1-186D3FE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Tunggu sampai nomor transaksi dan rincian penjualan tampil. Semua bahan dipotong sesuai resep.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767E3-DC7E-420B-B6F4-90E0439A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muncul pesan stok tidak cukup atau harga berubah, periksa pesanan dan muat ulang katalog sebelum melanjutkan.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A6248-6AC1-4248-AA5C-120AB46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94ECB-B534-4CEA-8905-20D9A8A7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355845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466A9-8538-4EEC-8779-29DA62B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D3D6C-59F8-430B-8824-087F537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Pastikan bukti transaksi muncul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D6D6D-16A8-47A2-98BA-65F1078A4D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d7a60d7384efa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umber">
            <a:extLst xmlns:a="http://schemas.openxmlformats.org/drawingml/2006/main">
              <a:ext uri="{FF2B5EF4-FFF2-40B4-BE49-F238E27FC236}">
                <a16:creationId xmlns:a16="http://schemas.microsoft.com/office/drawing/2014/main" id="{1D5E4B75-E335-4202-BBD9-4BD8C3C7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642717"/>
            <a:ext cx="7322046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344065F-0998-41F4-965A-55DFFAE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6388C-5BE3-4B41-8ECA-C1D1DB53286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71610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8408B-04D6-4F53-938A-58378B2D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Simpan nomor penjualan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3E163-D70D-4C64-8F9B-1F427618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IZ-POS memudahkan pencarian jika perlu memeriksa transaksi atau melakukan pembatalan.</a:t>
            </a:r>
          </a:p>
        </p:txBody>
      </p:sp>
      <p:sp>
        <p:nvSpPr>
          <p:cNvPr id="9" name="Sorotan print">
            <a:extLst xmlns:a="http://schemas.openxmlformats.org/drawingml/2006/main">
              <a:ext uri="{FF2B5EF4-FFF2-40B4-BE49-F238E27FC236}">
                <a16:creationId xmlns:a16="http://schemas.microsoft.com/office/drawing/2014/main" id="{2ADBB69F-B733-4181-B387-DEB17CBC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015876"/>
            <a:ext cx="895062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1DDAE4BE-3647-47F3-9BFA-8B13BFA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AB26E-651F-4730-A8A3-595F13470E2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78483" y="4135832"/>
            <a:ext cx="7403892" cy="191254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D330C-9BDC-4AB1-81E6-0340CAA9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Cetak struk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26191-F36E-42A2-8A09-34D7F7B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Tekan Cetak struk, lalu gunakan pilihan cetak pada browser. Pilih printer yang benar.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A99F9-37B3-45A4-B340-54DFA63D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total Rp30.000, uang diterima Rp50.000, kembalian Rp20.000.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03341-F56C-4FBE-95A4-0EE24B1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D00BC-BCD3-422C-A6FE-4A35EB30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753448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55643-CB39-449A-8D7C-D4CAD28A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2770A-7125-45B0-93FD-AE06A26B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bahan yang dipotong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98B96-CFB9-4A28-93E7-915EBBA27D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4875651154e27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onsumed">
            <a:extLst xmlns:a="http://schemas.openxmlformats.org/drawingml/2006/main">
              <a:ext uri="{FF2B5EF4-FFF2-40B4-BE49-F238E27FC236}">
                <a16:creationId xmlns:a16="http://schemas.microsoft.com/office/drawing/2014/main" id="{A2445C2D-C185-46E1-B3E2-FFA93676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2935384"/>
            <a:ext cx="7047012" cy="763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A2039C71-69D5-4D16-9399-34F56E6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781D2-3E50-444E-A850-A45E37EF155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267950" y="3317277"/>
            <a:ext cx="1114425" cy="101659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582B7-1694-444C-910C-B6E960B1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per menu dan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AF15E-BA13-46E5-B9D3-7A4349B0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Daging 40 gram per menu × 2 menu = 80 gram dipotong. Bahan lain juga mengikuti resepnya.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C4C2E-B044-4A00-9F03-55511C8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Rincian ini memakai resep saat transaksi terjadi. Resep yang diedit setelahnya tidak mengubah transaksi lama.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D4937-5703-4FC9-9DB6-4FF39C7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737F0-D9C8-4262-B814-E0D3A86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394677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A23D1-F41E-4304-964F-3340FAFB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54844-912A-4AD2-9942-6A3BD04D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Telusuri riwayat keluar masuk bahan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61643-6562-42EF-86A7-EBFAF355C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f460f1eca442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earch">
            <a:extLst xmlns:a="http://schemas.openxmlformats.org/drawingml/2006/main">
              <a:ext uri="{FF2B5EF4-FFF2-40B4-BE49-F238E27FC236}">
                <a16:creationId xmlns:a16="http://schemas.microsoft.com/office/drawing/2014/main" id="{241075F9-3ADF-4252-BBAE-C55BE75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068263"/>
            <a:ext cx="6054310" cy="4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51A8AA5C-0543-4BDF-9669-9DA10D1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C8C5B-7BF7-4C41-9FD3-C30E41D84B2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9137731" y="3095625"/>
            <a:ext cx="2244644" cy="11744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2EB52-7466-4475-BE75-F8B2385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Cari bahan atau dokumen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4E9F9-CDF2-439E-AD35-FC5820C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Gunakan pencarian saat ingin mencocokkan penerimaan, penjualan, pembatalan, atau perubahan saldo.</a:t>
            </a:r>
          </a:p>
        </p:txBody>
      </p:sp>
      <p:sp>
        <p:nvSpPr>
          <p:cNvPr id="9" name="Sorotan detail">
            <a:extLst xmlns:a="http://schemas.openxmlformats.org/drawingml/2006/main">
              <a:ext uri="{FF2B5EF4-FFF2-40B4-BE49-F238E27FC236}">
                <a16:creationId xmlns:a16="http://schemas.microsoft.com/office/drawing/2014/main" id="{96BAE857-5BF4-4D11-881A-9B050EE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842890"/>
            <a:ext cx="1636468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D86D80B7-3057-4656-BC03-CEB48E3A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A418D-01D5-4687-B154-2468010F3F5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406" y="5979217"/>
            <a:ext cx="6524969" cy="6915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4BBA7-C533-4A0A-95AB-1723E8B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Buka transaksi asal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DF5B6-E47E-4E9A-9991-CF55B933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Lihat penjualan &amp; bahan membuka rincian menu yang menyebabkan bahan berkurang.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1A53F-3F23-4804-9168-F7E0D054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Perhatikan saldo sebelum, saldo sesudah, waktu WIB, dan petugas pada setiap catatan.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0D19D-282A-4DE9-9A16-E96ED70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84AD5-E013-4816-94B0-5D114A5B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290595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619B6-334A-45E9-950A-8860A8C6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0885B-3210-42F2-868F-802A101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asal dan tujuan mutasi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F14C0-52B6-4D52-B47A-894B2EEBE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7046490c6450b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ource">
            <a:extLst xmlns:a="http://schemas.openxmlformats.org/drawingml/2006/main">
              <a:ext uri="{FF2B5EF4-FFF2-40B4-BE49-F238E27FC236}">
                <a16:creationId xmlns:a16="http://schemas.microsoft.com/office/drawing/2014/main" id="{81B439DC-2E4F-448F-9D97-90B4EAF8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4703462"/>
            <a:ext cx="7069931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D2A55C42-8B81-4068-9AB7-34DCA0E2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10287-D0EB-4A7B-8C68-324CD120685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279410" y="3095625"/>
            <a:ext cx="1102965" cy="183911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D7D30-8751-41DC-9447-0F09690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Pastikan lokasi asal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2BA51-038A-49DF-B291-A9B581D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Stok berkurang dari lokasi pengirim. Petugas hanya dapat mengirim dari lokasi yang boleh dikelolanya.</a:t>
            </a:r>
          </a:p>
        </p:txBody>
      </p:sp>
      <p:sp>
        <p:nvSpPr>
          <p:cNvPr id="9" name="Sorotan destination">
            <a:extLst xmlns:a="http://schemas.openxmlformats.org/drawingml/2006/main">
              <a:ext uri="{FF2B5EF4-FFF2-40B4-BE49-F238E27FC236}">
                <a16:creationId xmlns:a16="http://schemas.microsoft.com/office/drawing/2014/main" id="{9E013857-9A21-426E-951E-47FD22D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5482726"/>
            <a:ext cx="7069931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06DBE2A7-6F5E-4472-82BE-B6570D53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53B75-E1A9-42A9-935F-2D31E1F5814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279410" y="5714005"/>
            <a:ext cx="1102965" cy="33437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1E723-FEB7-4C45-AA23-90F2042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Pilih cabang atau Gudang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D60A1-6C7F-4066-AB24-2F551001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 ini memindahkan bahan dari Izzi ke Gudang Utama. Arah sebaliknya dicatat petugas Gudang yang berwenang.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3D7CE-5159-47C9-90D3-2A7AE28C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Mutasi baru dicatat setelah barang diterima. Isi nama pengirim, penerima, tanggal/jam WIB, dan alasan.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C3223-B488-4FF3-AC0F-3E23AF1C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9BEE4-6C41-4AC5-97C8-BD3C9C90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890838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08E9E-A603-43EC-AE02-2901F60A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1B056-72F7-41F7-BED4-18AFF3D5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Pilih barang dan jumlah yang dipindahkan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B6365-5CA2-4767-B942-7351C9FDB3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43b21af254716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ourceProduct">
            <a:extLst xmlns:a="http://schemas.openxmlformats.org/drawingml/2006/main">
              <a:ext uri="{FF2B5EF4-FFF2-40B4-BE49-F238E27FC236}">
                <a16:creationId xmlns:a16="http://schemas.microsoft.com/office/drawing/2014/main" id="{DAE57586-16CE-4601-B199-7B93F18D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3681803"/>
            <a:ext cx="6794897" cy="46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3875DC07-80BA-47F8-B270-5B3EF5AB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0456D-9258-467D-B1EC-4469BE79AC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141893" y="3095625"/>
            <a:ext cx="1240482" cy="81745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113F4-2844-4282-9262-3671C3B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Pilih barang yang benar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71074-76EC-42A1-BEA0-098E464D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kode dan nama. Produk tujuan harus mewakili barang fisik yang sama.</a:t>
            </a:r>
          </a:p>
        </p:txBody>
      </p:sp>
      <p:sp>
        <p:nvSpPr>
          <p:cNvPr id="9" name="Sorotan quantity">
            <a:extLst xmlns:a="http://schemas.openxmlformats.org/drawingml/2006/main">
              <a:ext uri="{FF2B5EF4-FFF2-40B4-BE49-F238E27FC236}">
                <a16:creationId xmlns:a16="http://schemas.microsoft.com/office/drawing/2014/main" id="{F59645B6-B686-4CED-A854-CAA6653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6" y="4362841"/>
            <a:ext cx="6794897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A4AF89DC-BC8C-4D8A-8A22-58C6138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71F1F-61AA-4FED-BEBE-81E1F398059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141893" y="4603943"/>
            <a:ext cx="1240482" cy="14444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CDEAD-C6F2-4234-9E72-C0BDB821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Gunakan satuan master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288A8-2940-4425-94CB-C39C9CF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Contoh: 200 gram daging dipindahkan. Periksa sisa asal dan jumlah yang diterima tujuan.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B7EC0-7E1E-4E81-AD32-2A6A2983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barang menggunakan master berbeda di tujuan, periksa konversi yang sudah tersedia pada formulir.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5204C-4986-43B8-85CB-90DF2AD4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03AB8-155C-4421-8652-76E9D09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50896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52465-B368-4B15-8BFD-DD5A6FEF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4D4B-977E-4685-93E6-65AA51B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barang sudah diterima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C3741-33DB-4301-8AC7-DF025403D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1c2f2830c4ca4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onfirm">
            <a:extLst xmlns:a="http://schemas.openxmlformats.org/drawingml/2006/main">
              <a:ext uri="{FF2B5EF4-FFF2-40B4-BE49-F238E27FC236}">
                <a16:creationId xmlns:a16="http://schemas.microsoft.com/office/drawing/2014/main" id="{B91FCAA9-A7F7-413E-8B84-3C82945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6229043"/>
            <a:ext cx="182612" cy="182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AACA78B3-3728-44D2-8348-FCB185E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126C4-6859-4102-8202-F395DDD2AD9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392091" y="3095625"/>
            <a:ext cx="7990284" cy="32247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310B8-5872-49F1-85BD-AE09EB6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Baca pernyataan 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F8DF1-19F5-47A7-A47D-F5BA0FC8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Centang setelah memastikan barang diterima dan perpindahan yang sama belum pernah dicatat.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E6E42E92-7E5B-43EE-B175-B988AEDF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479" y="6752918"/>
            <a:ext cx="1670438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872FC7C3-D9D3-4E5E-B17F-7C4AB2AF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CC85B-CE5C-4B70-BE88-F91742C7420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879917" y="6048375"/>
            <a:ext cx="6502458" cy="9390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5FC90-D1A7-441A-AF5B-5B7713BE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mutasi selesai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8D4F3-4699-4296-817A-A8F49064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Sekali simpan mengurangi stok asal dan menambah stok tujuan bersama-sama. Tunggu bukti mutasi.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7F7E3-74B5-4797-B65E-73B15F0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Jangan mencatat penerimaan yang sama lagi lewat Terima Bahan.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5D041-E27F-4DA0-B2C5-299CD53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1BCE2-4A44-4B1E-A457-0DE0B925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711642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085E1-73DE-4D46-B6F7-18D7E89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215CB-B409-49F3-B779-3C744421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Cocokkan bukti mutasi selesai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EBD25-65E7-4879-A0DE-48164C187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bef4f34a14299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tatus">
            <a:extLst xmlns:a="http://schemas.openxmlformats.org/drawingml/2006/main">
              <a:ext uri="{FF2B5EF4-FFF2-40B4-BE49-F238E27FC236}">
                <a16:creationId xmlns:a16="http://schemas.microsoft.com/office/drawing/2014/main" id="{BED195B0-A252-465A-B1D2-17F0C03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31" y="3203972"/>
            <a:ext cx="1043936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2FED425F-84BE-4466-8A1E-FA87F4A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7A10A-984C-40B8-94B3-0E811E7D13D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7736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01118-497D-4285-8E85-C88BCE7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Pastikan status selesai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E9FD1-CA14-4121-99D7-2D2CC4BE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Selesai diterima berarti pengurangan asal dan penambahan tujuan sudah tersimpan.</a:t>
            </a:r>
          </a:p>
        </p:txBody>
      </p:sp>
      <p:sp>
        <p:nvSpPr>
          <p:cNvPr id="9" name="Sorotan number">
            <a:extLst xmlns:a="http://schemas.openxmlformats.org/drawingml/2006/main">
              <a:ext uri="{FF2B5EF4-FFF2-40B4-BE49-F238E27FC236}">
                <a16:creationId xmlns:a16="http://schemas.microsoft.com/office/drawing/2014/main" id="{F8042506-21CE-4606-97B5-3E4CD2FE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203972"/>
            <a:ext cx="1990799" cy="338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69384976-E410-47C7-BCFF-AB1C0CD2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3B06B-DCE7-4820-8A48-9151A7FC09A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74220" y="3372989"/>
            <a:ext cx="6308155" cy="267538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6D06A-FA24-400A-BD6C-446DD4E8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Gunakan nomor mutasi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76AA3-888C-4CC3-B075-4B1CA997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Nomor MUT menjadi rujukan. Bagian Jejak perubahan stok menunjukkan saldo asal dan tujuan.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9681B-339E-4596-B4AD-D365E39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Izzi berkurang 200 gram, Gudang bertambah 200 gram. Riwayat tetap dapat diperiksa.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91DE6-5444-4C21-A186-528494F2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68B15-714C-4B39-B561-F0AF87C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996427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28718-4486-4D95-9C3C-407E513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F6007-C48E-4B2E-90B1-8FD8DCC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Pembatalan dilakukan oleh admin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82063-4C3C-4943-A19E-75FD2F0A6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6e445beeb4e9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ancel">
            <a:extLst xmlns:a="http://schemas.openxmlformats.org/drawingml/2006/main">
              <a:ext uri="{FF2B5EF4-FFF2-40B4-BE49-F238E27FC236}">
                <a16:creationId xmlns:a16="http://schemas.microsoft.com/office/drawing/2014/main" id="{84AC8CF3-B136-4124-AC8C-57DA8AE7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949576"/>
            <a:ext cx="1496597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8BDF98A4-CBD0-4C15-A42A-A80847D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408F4-6587-4D34-8591-8283739DEBE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580018" y="4333875"/>
            <a:ext cx="6802357" cy="275202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0C572-AE01-456D-810B-9D237DA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Buka catatan pembatalan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0B34F-D3B6-412F-A5CC-51A1436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Cari transaksi yang benar, lalu tekan Catat pembatalan menu. Laci transaksi harus masih terbuka.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7299E-AC44-49BB-871E-0D0B652F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Kasir menghubungi admin jika perlu pembatalan. Pembatalan tidak boleh mengubah rekap laci yang sudah ditutup.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66E1C-A98E-4267-958B-B0C9213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0184C-0FDA-4776-B2FD-ABC8E4A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939132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29284-F8CD-4572-83B8-B68F380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72281-42FC-4AD0-9709-CA1AF73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Bedakan belum dibuat dan terbuang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6329C-B12B-43F6-BE0F-04F0B8690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87d141ca94aaa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unused">
            <a:extLst xmlns:a="http://schemas.openxmlformats.org/drawingml/2006/main">
              <a:ext uri="{FF2B5EF4-FFF2-40B4-BE49-F238E27FC236}">
                <a16:creationId xmlns:a16="http://schemas.microsoft.com/office/drawing/2014/main" id="{222D8C82-107C-402B-9711-F91F6DB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196" y="4801688"/>
            <a:ext cx="3545235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76E5B272-4C22-4D24-8E3A-7125BFE4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9A331-510D-4800-A6D5-D4F4C22E39F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733431" y="3095625"/>
            <a:ext cx="4648944" cy="194716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D7AE5-0402-4C55-8DB0-5EE885DC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Menu belum dibuat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AD17E-306E-4E0D-954F-A31A72CF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jumlah menu yang belum dibuat. Bahan sesuai resep akan dikembalikan ke stok.</a:t>
            </a:r>
          </a:p>
        </p:txBody>
      </p:sp>
      <p:sp>
        <p:nvSpPr>
          <p:cNvPr id="9" name="Sorotan wasted">
            <a:extLst xmlns:a="http://schemas.openxmlformats.org/drawingml/2006/main">
              <a:ext uri="{FF2B5EF4-FFF2-40B4-BE49-F238E27FC236}">
                <a16:creationId xmlns:a16="http://schemas.microsoft.com/office/drawing/2014/main" id="{965F34FD-12E7-429F-8329-6F1F6C74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458" y="4801688"/>
            <a:ext cx="3545235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85F3D8B5-A980-4ACA-9CF6-96C4ECF1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29136-1E3B-46A4-8A7C-4F92078C83E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300693" y="5042790"/>
            <a:ext cx="1081682" cy="100558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F324E-2CEA-4008-8FF3-161C6AC8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Menu sudah dibuat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2A835-AE02-426E-92AE-8D8AD61E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menu yang sudah dibuat lalu terbuang. Bahannya tetap terpakai dan tidak dipotong dua kali.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EA6DD-AC55-4935-A33B-6EC3C6C9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Isi kondisi yang sebenarnya. Jumlah kedua kolom tidak boleh melebihi sisa menu yang belum dibatalkan.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FFAE8-F7E6-4D71-ACFE-4EB005B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E237B-6368-4A96-BD0E-606F7471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117244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5747A-EA0A-437B-AFC4-E2F1E29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0168F-B8C8-4068-B40C-423FBDEA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alasan dan periksa pembatalan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B7003-1886-48E3-BAD5-9A998B827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553c6205a47ec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reason">
            <a:extLst xmlns:a="http://schemas.openxmlformats.org/drawingml/2006/main">
              <a:ext uri="{FF2B5EF4-FFF2-40B4-BE49-F238E27FC236}">
                <a16:creationId xmlns:a16="http://schemas.microsoft.com/office/drawing/2014/main" id="{47ED285A-177E-440D-8987-9ECFCB9B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5639888"/>
            <a:ext cx="7322046" cy="678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E7D24A2-7857-406D-BB0C-BB4D1AFD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0BA9B-B929-4E95-A09F-5D16FD67D97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288359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10E6E-C9CB-4A22-AE22-491C06B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Jelaskan kejadiannya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504E0-9ECC-4B73-88ED-86114833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Tuliskan alasan yang mudah ditelusuri. Contoh: pelanggan membatalkan satu menu yang belum dibuat.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AF7CD5D7-3153-428E-91FC-40676B1E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6753123"/>
            <a:ext cx="2622417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F995364F-065F-4740-A069-9D3B1C1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B02EE-F3AB-4A45-A9F5-20CFEE87A1A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705838" y="6048375"/>
            <a:ext cx="5676537" cy="939301"/>
          </a:xfrm>
          <a:prstGeom xmlns:a="http://schemas.openxmlformats.org/drawingml/2006/main" prst="bentConnector3">
            <a:avLst>
              <a:gd name="adj1" fmla="val 95973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33821-7BCC-4ABF-9AE9-F7BB394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setelah konfirmasi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E62B9-72D9-4ADE-ACCF-09601E1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Centang pernyataan pemeriksaan, lalu simpan. Periksa nilai pengembalian uang pada hasil pembatalan.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09D5D-F6C4-48B9-84AE-A1BBF11A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Pencatatan pembatalan tidak menyerahkan uang secara otomatis. Petugas tetap perlu mengembalikan uang kepada pelanggan.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E973B-2AE6-4EF1-91F9-1A79546E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B8020-EE3A-4BC6-8B70-81D9C412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9163436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30109-2740-4780-B9AD-89F1577A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ECD8F-6043-46DD-B5E8-59C03BE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penjualan bersih sesudah batal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A37F-C8A0-4C8A-A1BA-7C9B811CD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fa1b6c0874ad0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et">
            <a:extLst xmlns:a="http://schemas.openxmlformats.org/drawingml/2006/main">
              <a:ext uri="{FF2B5EF4-FFF2-40B4-BE49-F238E27FC236}">
                <a16:creationId xmlns:a16="http://schemas.microsoft.com/office/drawing/2014/main" id="{EB45B169-F2BB-4733-A94D-ADCE500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5083271"/>
            <a:ext cx="7322046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6D9786A0-CBF2-425F-BA46-CFF02C19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77A88-886D-47F8-A3C2-9D2979B4B41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4333875"/>
            <a:ext cx="976908" cy="88572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6D0EA-8966-478D-A001-7FD8C2A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Cocokkan nilai bersih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54677-AAD1-453A-83E6-49E7D06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Penjualan awal Rp30.000 dikurangi pembatalan Rp15.000 menjadi penjualan bersih Rp15.000.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0F9C7-5737-4F95-95C8-F23E0480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Pada contoh belum dibuat 1 menu, daging 40 gram dan bahan resep lainnya dikembalikan ke stok.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C0968-790E-4F4D-8447-AC8C0B7F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6E89D-37D7-4B4E-9FE9-76CB7D1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47857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12ADA-3D36-4C74-ACB6-4896B812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ABF25-C8F4-4EF7-9904-CEDBD666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Hitung uang lalu tutup laci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6BCEE-51EE-40B8-81CE-224AB2BCF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4d5a02b1d42bf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ash">
            <a:extLst xmlns:a="http://schemas.openxmlformats.org/drawingml/2006/main">
              <a:ext uri="{FF2B5EF4-FFF2-40B4-BE49-F238E27FC236}">
                <a16:creationId xmlns:a16="http://schemas.microsoft.com/office/drawing/2014/main" id="{6C3C4464-BEC0-44BA-AC04-F4B72172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531394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7F67F189-6C05-4A0E-8551-15FF25C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F1304-18A5-4B52-9F6F-C0A24179BB7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6768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C1DC8-965E-4C05-8087-F370D1DB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Isi uang fisik akhir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63C2F-3387-4B93-A339-03320E3B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Hitung uang yang benar-benar ada. Contoh: modal Rp100.000 + tunai bersih Rp15.000 = Rp115.000.</a:t>
            </a:r>
          </a:p>
        </p:txBody>
      </p:sp>
      <p:sp>
        <p:nvSpPr>
          <p:cNvPr id="9" name="Sorotan close">
            <a:extLst xmlns:a="http://schemas.openxmlformats.org/drawingml/2006/main">
              <a:ext uri="{FF2B5EF4-FFF2-40B4-BE49-F238E27FC236}">
                <a16:creationId xmlns:a16="http://schemas.microsoft.com/office/drawing/2014/main" id="{6583528A-2CCD-489C-A8CB-695A7DE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5050631"/>
            <a:ext cx="1877634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64325EE1-CD98-410D-97C5-950DD98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63109-F2DF-4155-9503-91904F17473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61055" y="5285184"/>
            <a:ext cx="6421320" cy="76319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E4527-1407-4AE4-8A31-2989A0D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rekap penutupan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820CF-A654-498B-BE14-768E8AB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Tulis alasan bila ada selisih. Pastikan pengembalian uang pembatalan sudah selesai sebelum menutup laci.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3870A-36FC-4A4E-9702-82B555AE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Uang transfer tidak dihitung sebagai uang tunai laci. Setelah ditutup, transaksi shift tersebut tidak dapat dibatalkan.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0D426-9450-4CD5-8A76-3D858B8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0CC65-1156-40FC-A740-C3B6174D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560737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8D1FF-EA41-4BA4-97D0-7D36C0D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KASIR DAN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2496F-9787-4C79-81E0-310D7E72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rekap laci ditutup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C540-7AD4-409E-B742-7EBFCEEC16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c60cf88e447e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closed">
            <a:extLst xmlns:a="http://schemas.openxmlformats.org/drawingml/2006/main">
              <a:ext uri="{FF2B5EF4-FFF2-40B4-BE49-F238E27FC236}">
                <a16:creationId xmlns:a16="http://schemas.microsoft.com/office/drawing/2014/main" id="{CD295C6A-9D5C-45AB-8EDD-3A9E0A09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810250"/>
            <a:ext cx="1897382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01CE3181-72CC-4391-94C4-96A26A4F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C37E3-D2A3-4B51-8FE0-7387F822E25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18320" y="3095625"/>
            <a:ext cx="6264055" cy="283458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88705-9A5B-4B42-9FC0-DB78A624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Status sudah ditutup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17E2A-2FC8-433D-BB21-F11C5947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Periksa nama kasir dan waktu buka/tutup. Riwayat ini menjadi catatan satu shift kerja.</a:t>
            </a:r>
          </a:p>
        </p:txBody>
      </p:sp>
      <p:sp>
        <p:nvSpPr>
          <p:cNvPr id="9" name="Sorotan difference">
            <a:extLst xmlns:a="http://schemas.openxmlformats.org/drawingml/2006/main">
              <a:ext uri="{FF2B5EF4-FFF2-40B4-BE49-F238E27FC236}">
                <a16:creationId xmlns:a16="http://schemas.microsoft.com/office/drawing/2014/main" id="{216A03C7-2789-4541-ABF5-3B0599F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6255544"/>
            <a:ext cx="7047012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646D65B1-8ECD-4A20-91AB-88F150F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46DAA-B8DD-4322-8ADE-EE559C42A30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267950" y="6048375"/>
            <a:ext cx="1114425" cy="3434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17213-5C7E-454A-BFC2-20FF5507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Baca selisih uang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19D3F-96A8-4268-9040-E128A349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Selisih membandingkan uang fisik yang dihitung dengan perkiraan sistem. Contoh ini menunjukkan Rp0.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D6359-D427-47B0-827D-2F0C1C3B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ada selisih, tulis sebab yang sebenarnya; jangan mengubah angka hanya agar hasilnya nol.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7B79B-21A2-47FB-B5BA-A23579B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AEA2F-A576-4042-BD5F-F9725141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241800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C04FA-909C-4CC5-BF8A-E62E45BA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6C67A-E183-44B1-92EA-21B6543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Stock opname memerlukan izin Owner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62B53-46A7-47BE-B4DD-AEC9B4712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c507df4434ceb"/>
          <a:stretch xmlns:a="http://schemas.openxmlformats.org/drawingml/2006/main"/>
        </p:blipFill>
        <p:spPr>
          <a:xfrm xmlns:a="http://schemas.openxmlformats.org/drawingml/2006/main">
            <a:off x="381000" y="1657350"/>
            <a:ext cx="10477500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status">
            <a:extLst xmlns:a="http://schemas.openxmlformats.org/drawingml/2006/main">
              <a:ext uri="{FF2B5EF4-FFF2-40B4-BE49-F238E27FC236}">
                <a16:creationId xmlns:a16="http://schemas.microsoft.com/office/drawing/2014/main" id="{E2768F6D-BCC1-4A3D-9FCC-5A88E4D6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111" y="4827882"/>
            <a:ext cx="383260" cy="2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48CF52C5-30C6-4070-A940-935A0BC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32556-83E4-40F0-AC67-57C025D2F89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392371" y="3095625"/>
            <a:ext cx="990004" cy="18685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C8ABD-AB0D-473E-896B-5897E72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Pastikan sesi aktif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C8047-E465-4DC0-AD9C-7C402D3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Owner membuka sesi untuk lokasi tertentu dengan batas waktu. Periksa nama cabang dan instruksinya.</a:t>
            </a:r>
          </a:p>
        </p:txBody>
      </p:sp>
      <p:sp>
        <p:nvSpPr>
          <p:cNvPr id="9" name="Sorotan start">
            <a:extLst xmlns:a="http://schemas.openxmlformats.org/drawingml/2006/main">
              <a:ext uri="{FF2B5EF4-FFF2-40B4-BE49-F238E27FC236}">
                <a16:creationId xmlns:a16="http://schemas.microsoft.com/office/drawing/2014/main" id="{CAB5127A-331D-4B04-8418-49059CEC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5319015"/>
            <a:ext cx="1051713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7E0BDAA8-66C7-411C-AC3D-9C8AB9C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673BB-1627-4E43-9C7D-AFB9F92250A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72651" y="5438971"/>
            <a:ext cx="7109724" cy="60940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936DA-A757-4C47-B515-CE0C664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Mulai hitung fisik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BEDA4-05D1-4D41-8767-7A249FF5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Buka sesi yang sesuai. Hentikan pergerakan bahan sementara agar hasil hitung tetap cocok.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F1F19-8552-4E7A-9DE6-C4CA20D4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Jika belum ada sesi atau waktunya habis, minta Owner membuka atau memperpanjang akses.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81091-529B-4731-9419-40F4B89C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A8248-8C27-4199-A97B-817A42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5866124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47FAD-F852-4727-AD1E-8057A80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109C7-6F30-49D4-8030-F3EA8667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Isi total hasil hitung fisik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4E721-C86C-49F0-B086-A9B28E0B7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7576925ce4cd8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physical">
            <a:extLst xmlns:a="http://schemas.openxmlformats.org/drawingml/2006/main">
              <a:ext uri="{FF2B5EF4-FFF2-40B4-BE49-F238E27FC236}">
                <a16:creationId xmlns:a16="http://schemas.microsoft.com/office/drawing/2014/main" id="{B474FE1C-55BE-4437-93C0-86B93D1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363045"/>
            <a:ext cx="7322046" cy="4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F78648C6-2BB1-40EB-8BD3-60FB4109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AD0A8-A279-4C93-B0E7-206FFF5CA69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4333875"/>
            <a:ext cx="976908" cy="2702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17BCA-A6A1-4E6D-8CFE-FF51171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Masukkan saldo akhir fisik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29C62-7E57-4F5F-BA6B-D35905B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Jika hasil timbang 5750 gram, masukkan 5750. Jangan memasukkan angka selisih 10 gram.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E95CC-33C1-4763-A817-8C60137D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Contoh: sistem 5760 gram, fisik 5750 gram. Sistem menghitung selisih -10 gram.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E3659-4400-4B8B-8DCC-7A0078F3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80571-81B2-4146-8CBB-E1BAC9D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462675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9265A-162B-450F-98C0-A933B71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89A44-CA31-4381-91CE-91DDE53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Jelaskan selisih lalu simpan SO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718F7-5967-4854-975F-190C7ACB81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72557f5743db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notes">
            <a:extLst xmlns:a="http://schemas.openxmlformats.org/drawingml/2006/main">
              <a:ext uri="{FF2B5EF4-FFF2-40B4-BE49-F238E27FC236}">
                <a16:creationId xmlns:a16="http://schemas.microsoft.com/office/drawing/2014/main" id="{2BA34A73-F886-46B1-BB29-5976CDC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3727847"/>
            <a:ext cx="7322046" cy="678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BC1CB853-8A75-4325-9682-DAB85117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76212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B4C8B-3B33-4EBD-A840-34F157406BE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0405467" y="3095625"/>
            <a:ext cx="976908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8A393-29AA-4A13-AC1F-5A662EF9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Catat hasil pemeriksaan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357AD-6EE2-459B-A81D-2DA787E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6193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Jelaskan hasil hitung dan sebab selisih sesuai temuan. Periksa kembali satuan yang digunakan.</a:t>
            </a:r>
          </a:p>
        </p:txBody>
      </p:sp>
      <p:sp>
        <p:nvSpPr>
          <p:cNvPr id="9" name="Sorotan save">
            <a:extLst xmlns:a="http://schemas.openxmlformats.org/drawingml/2006/main">
              <a:ext uri="{FF2B5EF4-FFF2-40B4-BE49-F238E27FC236}">
                <a16:creationId xmlns:a16="http://schemas.microsoft.com/office/drawing/2014/main" id="{10C2BDAB-94BF-4670-93E5-A3D393D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421" y="4841081"/>
            <a:ext cx="1523200" cy="4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10" name="Penjelasan 2">
            <a:extLst xmlns:a="http://schemas.openxmlformats.org/drawingml/2006/main">
              <a:ext uri="{FF2B5EF4-FFF2-40B4-BE49-F238E27FC236}">
                <a16:creationId xmlns:a16="http://schemas.microsoft.com/office/drawing/2014/main" id="{5C3BD3B2-87F8-46CC-B591-F9ECF0D6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148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8EAF3-9655-44E2-8EC2-AF4F132EE3A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06621" y="5075634"/>
            <a:ext cx="6775754" cy="97274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A26FF-D477-4684-B024-2D704D6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9053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2. Simpan hasil hitung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C26A7-7202-49ED-8C8B-26E23144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5721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Centang konfirmasi fisik lalu simpan. Saldo lokasi akan mengikuti angka hasil hitung Anda.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A32A8-9DB6-4B40-A5B0-ACBE787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Satu produk disimpan sekali per sesi. Jika stok berubah selama menghitung, muat ulang dan hitung kembali.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0CC36-39E9-4B7C-A539-402C9684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83821-CCB2-40BA-8D15-E1F1850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87240145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65F5A-1283-4CBF-A1D1-18F8191E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ADMIN DAN KASIR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D2338-8073-4081-9CDA-9F2F0A7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33425"/>
            <a:ext cx="1414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Lihat petugas dan jejak hasil SO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C6C05-0DEC-4D60-ACF7-63C1FEAEB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5b28ff00e4428"/>
          <a:stretch xmlns:a="http://schemas.openxmlformats.org/drawingml/2006/main"/>
        </p:blipFill>
        <p:spPr>
          <a:xfrm xmlns:a="http://schemas.openxmlformats.org/drawingml/2006/main">
            <a:off x="384219" y="1657350"/>
            <a:ext cx="10471062" cy="5893594"/>
          </a:xfrm>
          <a:prstGeom xmlns:a="http://schemas.openxmlformats.org/drawingml/2006/main" prst="rect">
            <a:avLst/>
          </a:prstGeom>
        </p:spPr>
      </p:pic>
      <p:sp>
        <p:nvSpPr>
          <p:cNvPr id="4" name="Sorotan detail">
            <a:extLst xmlns:a="http://schemas.openxmlformats.org/drawingml/2006/main">
              <a:ext uri="{FF2B5EF4-FFF2-40B4-BE49-F238E27FC236}">
                <a16:creationId xmlns:a16="http://schemas.microsoft.com/office/drawing/2014/main" id="{42FB734D-FC43-490A-B1E4-4AABA14B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938" y="3937192"/>
            <a:ext cx="1261672" cy="23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232"/>
            </a:solidFill>
            <a:prstDash val="solid"/>
          </a:ln>
        </p:spPr>
      </p:sp>
      <p:sp>
        <p:nvSpPr>
          <p:cNvPr id="5" name="Penjelasan 1">
            <a:extLst xmlns:a="http://schemas.openxmlformats.org/drawingml/2006/main">
              <a:ext uri="{FF2B5EF4-FFF2-40B4-BE49-F238E27FC236}">
                <a16:creationId xmlns:a16="http://schemas.microsoft.com/office/drawing/2014/main" id="{C6988302-C6AA-46B1-BD7C-FE326BEB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00375"/>
            <a:ext cx="3381375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3232"/>
            </a:solidFill>
            <a:prstDash val="solid"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6A29E-ABB8-440F-9AC5-DA9605A8C08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82610" y="4057148"/>
            <a:ext cx="6899765" cy="27672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D93232"/>
            </a:solidFill>
            <a:prstDash val="solid"/>
            <a:head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DF400-6AB2-4BE0-8E00-5ECC63FC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908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1. Buka detail hasil hitung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D2E42-A61A-4288-802F-D6D48E2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85762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38" b="0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182B42"/>
                </a:solidFill>
                <a:latin typeface="Arial"/>
                <a:ea typeface="Arial"/>
                <a:cs typeface="Arial"/>
              </a:rPr>
              <a:t>Detail menunjukkan saldo sebelum/sesudah, selisih, petugas, alasan, izin Owner, dan jejak penyesuaian.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C0B67-05F5-47C0-8E98-B34DE2E4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96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Gunakan Riwayat SO untuk mencari hasil berdasarkan produk, tanggal, petugas, atau sesi.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E3FB4-F5CA-4266-A2B7-8927331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EF229-D474-497B-BA68-5741378D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13443427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8442C-1B09-4853-8407-862494CE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82B42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82B42"/>
                </a:solidFill>
                <a:latin typeface="Arial"/>
                <a:ea typeface="Arial"/>
                <a:cs typeface="Arial"/>
              </a:rPr>
              <a:t>Jika ada kendala, periksa bagian 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FD6D2-B044-432C-A806-DD55001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Menu belum muncul atau stok tidak cukup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AEF37-51F6-425F-B1C0-0062EAC4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Admin memeriksa bahan aktif, menu aktif, resep, stok di cabang yang benar, dan seluruh kebutuhan gabungan pesanan.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0E085-B64A-469C-B21C-682F0EC4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Pembatalan atau SO tidak dapat dilakukan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E55FE-8EB5-4027-B873-C01C324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Pembatalan memerlukan akun admin dan laci transaksi yang masih aktif. SO memerlukan sesi Owner yang masih berlaku.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5EB5C-FB8E-4A49-9878-ACF87C0B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932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3232"/>
                </a:solidFill>
                <a:latin typeface="Arial"/>
                <a:ea typeface="Arial"/>
                <a:cs typeface="Arial"/>
              </a:rPr>
              <a:t>Angka stok atau uang tidak cocok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E2BA9-AC3D-4782-B7C0-3C46C6E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23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Telusuri nomor dokumen, kartu stok, pembatalan, dan rekap laci. Jangan mencatat ulang transaksi yang sama atau menebak jumlah fisik.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1B025-2C3B-46AD-8350-FF4E2D2E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39125"/>
            <a:ext cx="1295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HEJIRA • IZZI KEBAB • DATA LATIHAN • 15 OKTOBER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117F6-D735-457F-AF22-DF308D0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9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087228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2026-10-15T10:24:27.1710000Z</dcterms:created>
  <dcterms:modified xsi:type="dcterms:W3CDTF">2026-10-15T10:24:27.1710000Z</dcterms:modified>
</coreProperties>
</file>