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c7a8cebc844ebf" /><Relationship Type="http://schemas.openxmlformats.org/officeDocument/2006/relationships/extended-properties" Target="/docProps/app.xml" Id="R68c2cc1216404bcf" /><Relationship Type="http://schemas.openxmlformats.org/officeDocument/2006/relationships/officeDocument" Target="/ppt/presentation.xml" Id="R27615e2758c648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7432d200834e6f"/>
  </p:sldMasterIdLst>
  <p:notesMasterIdLst>
    <p:notesMasterId xmlns:r="http://schemas.openxmlformats.org/officeDocument/2006/relationships" r:id="Rb094745518854e90"/>
  </p:notesMasterIdLst>
  <p:sldIdLst>
    <p:sldId xmlns:r="http://schemas.openxmlformats.org/officeDocument/2006/relationships" id="256" r:id="R56f87afcba3e4a73"/>
    <p:sldId xmlns:r="http://schemas.openxmlformats.org/officeDocument/2006/relationships" id="257" r:id="R633ccea881114ac8"/>
    <p:sldId xmlns:r="http://schemas.openxmlformats.org/officeDocument/2006/relationships" id="258" r:id="R7b4e915824074df3"/>
    <p:sldId xmlns:r="http://schemas.openxmlformats.org/officeDocument/2006/relationships" id="259" r:id="R6b38bfb170b7405d"/>
    <p:sldId xmlns:r="http://schemas.openxmlformats.org/officeDocument/2006/relationships" id="260" r:id="R70c63ea753d94cde"/>
    <p:sldId xmlns:r="http://schemas.openxmlformats.org/officeDocument/2006/relationships" id="261" r:id="Rf2361555add9497f"/>
    <p:sldId xmlns:r="http://schemas.openxmlformats.org/officeDocument/2006/relationships" id="262" r:id="Rc9cbb6adcb064816"/>
    <p:sldId xmlns:r="http://schemas.openxmlformats.org/officeDocument/2006/relationships" id="263" r:id="R1b16e7a07d4241ee"/>
    <p:sldId xmlns:r="http://schemas.openxmlformats.org/officeDocument/2006/relationships" id="264" r:id="R3de5fee0e56b4f3f"/>
    <p:sldId xmlns:r="http://schemas.openxmlformats.org/officeDocument/2006/relationships" id="265" r:id="R6e429e0b4337479e"/>
    <p:sldId xmlns:r="http://schemas.openxmlformats.org/officeDocument/2006/relationships" id="266" r:id="Rb3c1d0ea93e94a45"/>
    <p:sldId xmlns:r="http://schemas.openxmlformats.org/officeDocument/2006/relationships" id="267" r:id="R374ac4542226494c"/>
    <p:sldId xmlns:r="http://schemas.openxmlformats.org/officeDocument/2006/relationships" id="268" r:id="R557c0094ce75462e"/>
    <p:sldId xmlns:r="http://schemas.openxmlformats.org/officeDocument/2006/relationships" id="269" r:id="R8bf98d1207d741af"/>
    <p:sldId xmlns:r="http://schemas.openxmlformats.org/officeDocument/2006/relationships" id="270" r:id="R0f1a08d8f62c419b"/>
    <p:sldId xmlns:r="http://schemas.openxmlformats.org/officeDocument/2006/relationships" id="271" r:id="R0bedb2eab2f040c0"/>
    <p:sldId xmlns:r="http://schemas.openxmlformats.org/officeDocument/2006/relationships" id="272" r:id="Rd559bbadd41b44c4"/>
    <p:sldId xmlns:r="http://schemas.openxmlformats.org/officeDocument/2006/relationships" id="273" r:id="R07fdcc20c5d44722"/>
    <p:sldId xmlns:r="http://schemas.openxmlformats.org/officeDocument/2006/relationships" id="274" r:id="Rc9129fe004624a76"/>
    <p:sldId xmlns:r="http://schemas.openxmlformats.org/officeDocument/2006/relationships" id="275" r:id="R6734d78a39c1410d"/>
    <p:sldId xmlns:r="http://schemas.openxmlformats.org/officeDocument/2006/relationships" id="276" r:id="R86a4b8b48092441c"/>
    <p:sldId xmlns:r="http://schemas.openxmlformats.org/officeDocument/2006/relationships" id="277" r:id="R032af323e4a942a4"/>
    <p:sldId xmlns:r="http://schemas.openxmlformats.org/officeDocument/2006/relationships" id="278" r:id="Rde7cb34f2e744ac7"/>
    <p:sldId xmlns:r="http://schemas.openxmlformats.org/officeDocument/2006/relationships" id="279" r:id="Rd875264fcd1d46b5"/>
    <p:sldId xmlns:r="http://schemas.openxmlformats.org/officeDocument/2006/relationships" id="280" r:id="Re4c557691ec24349"/>
    <p:sldId xmlns:r="http://schemas.openxmlformats.org/officeDocument/2006/relationships" id="281" r:id="Recb48303541e4f5b"/>
    <p:sldId xmlns:r="http://schemas.openxmlformats.org/officeDocument/2006/relationships" id="282" r:id="Ra4e6cae55fba473f"/>
    <p:sldId xmlns:r="http://schemas.openxmlformats.org/officeDocument/2006/relationships" id="283" r:id="Rc5da4f8a00714a5a"/>
    <p:sldId xmlns:r="http://schemas.openxmlformats.org/officeDocument/2006/relationships" id="284" r:id="Ra5323545f015416e"/>
    <p:sldId xmlns:r="http://schemas.openxmlformats.org/officeDocument/2006/relationships" id="285" r:id="R8384c8a9fea74583"/>
    <p:sldId xmlns:r="http://schemas.openxmlformats.org/officeDocument/2006/relationships" id="286" r:id="R4988833be4f94793"/>
    <p:sldId xmlns:r="http://schemas.openxmlformats.org/officeDocument/2006/relationships" id="287" r:id="R71ea8ea6fb974824"/>
    <p:sldId xmlns:r="http://schemas.openxmlformats.org/officeDocument/2006/relationships" id="288" r:id="R3ff65dcb75f44f9a"/>
    <p:sldId xmlns:r="http://schemas.openxmlformats.org/officeDocument/2006/relationships" id="289" r:id="R9f5e1284b4a544b8"/>
    <p:sldId xmlns:r="http://schemas.openxmlformats.org/officeDocument/2006/relationships" id="290" r:id="Raa813a08882d4a2f"/>
    <p:sldId xmlns:r="http://schemas.openxmlformats.org/officeDocument/2006/relationships" id="291" r:id="R0817bcc506624f57"/>
    <p:sldId xmlns:r="http://schemas.openxmlformats.org/officeDocument/2006/relationships" id="292" r:id="Rbb2b55cc40a44b5d"/>
    <p:sldId xmlns:r="http://schemas.openxmlformats.org/officeDocument/2006/relationships" id="293" r:id="R2182c1e489d646b1"/>
    <p:sldId xmlns:r="http://schemas.openxmlformats.org/officeDocument/2006/relationships" id="294" r:id="Rb26287170bdc4720"/>
    <p:sldId xmlns:r="http://schemas.openxmlformats.org/officeDocument/2006/relationships" id="295" r:id="R6033d1e579334e57"/>
    <p:sldId xmlns:r="http://schemas.openxmlformats.org/officeDocument/2006/relationships" id="296" r:id="Rae7b0a72eaf7401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d25c1baa384c8b" /><Relationship Type="http://schemas.openxmlformats.org/officeDocument/2006/relationships/slideMaster" Target="/ppt/slideMasters/slideMaster1.xml" Id="R427432d200834e6f" /><Relationship Type="http://schemas.openxmlformats.org/officeDocument/2006/relationships/notesMaster" Target="/ppt/notesMasters/notesMaster1.xml" Id="Rb094745518854e90" /><Relationship Type="http://schemas.openxmlformats.org/officeDocument/2006/relationships/presProps" Target="/ppt/presProps.xml" Id="Rec747e8196db4512" /><Relationship Type="http://schemas.openxmlformats.org/officeDocument/2006/relationships/tableStyles" Target="/ppt/tableStyles.xml" Id="R1853df75a8314663" /><Relationship Type="http://schemas.openxmlformats.org/officeDocument/2006/relationships/slide" Target="/ppt/slides/slide1.xml" Id="R56f87afcba3e4a73" /><Relationship Type="http://schemas.openxmlformats.org/officeDocument/2006/relationships/slide" Target="/ppt/slides/slide2.xml" Id="R633ccea881114ac8" /><Relationship Type="http://schemas.openxmlformats.org/officeDocument/2006/relationships/slide" Target="/ppt/slides/slide3.xml" Id="R7b4e915824074df3" /><Relationship Type="http://schemas.openxmlformats.org/officeDocument/2006/relationships/slide" Target="/ppt/slides/slide4.xml" Id="R6b38bfb170b7405d" /><Relationship Type="http://schemas.openxmlformats.org/officeDocument/2006/relationships/slide" Target="/ppt/slides/slide5.xml" Id="R70c63ea753d94cde" /><Relationship Type="http://schemas.openxmlformats.org/officeDocument/2006/relationships/slide" Target="/ppt/slides/slide6.xml" Id="Rf2361555add9497f" /><Relationship Type="http://schemas.openxmlformats.org/officeDocument/2006/relationships/slide" Target="/ppt/slides/slide7.xml" Id="Rc9cbb6adcb064816" /><Relationship Type="http://schemas.openxmlformats.org/officeDocument/2006/relationships/slide" Target="/ppt/slides/slide8.xml" Id="R1b16e7a07d4241ee" /><Relationship Type="http://schemas.openxmlformats.org/officeDocument/2006/relationships/slide" Target="/ppt/slides/slide9.xml" Id="R3de5fee0e56b4f3f" /><Relationship Type="http://schemas.openxmlformats.org/officeDocument/2006/relationships/slide" Target="/ppt/slides/slide10.xml" Id="R6e429e0b4337479e" /><Relationship Type="http://schemas.openxmlformats.org/officeDocument/2006/relationships/slide" Target="/ppt/slides/slide11.xml" Id="Rb3c1d0ea93e94a45" /><Relationship Type="http://schemas.openxmlformats.org/officeDocument/2006/relationships/slide" Target="/ppt/slides/slide12.xml" Id="R374ac4542226494c" /><Relationship Type="http://schemas.openxmlformats.org/officeDocument/2006/relationships/slide" Target="/ppt/slides/slide13.xml" Id="R557c0094ce75462e" /><Relationship Type="http://schemas.openxmlformats.org/officeDocument/2006/relationships/slide" Target="/ppt/slides/slide14.xml" Id="R8bf98d1207d741af" /><Relationship Type="http://schemas.openxmlformats.org/officeDocument/2006/relationships/slide" Target="/ppt/slides/slide15.xml" Id="R0f1a08d8f62c419b" /><Relationship Type="http://schemas.openxmlformats.org/officeDocument/2006/relationships/slide" Target="/ppt/slides/slide16.xml" Id="R0bedb2eab2f040c0" /><Relationship Type="http://schemas.openxmlformats.org/officeDocument/2006/relationships/slide" Target="/ppt/slides/slide17.xml" Id="Rd559bbadd41b44c4" /><Relationship Type="http://schemas.openxmlformats.org/officeDocument/2006/relationships/slide" Target="/ppt/slides/slide18.xml" Id="R07fdcc20c5d44722" /><Relationship Type="http://schemas.openxmlformats.org/officeDocument/2006/relationships/slide" Target="/ppt/slides/slide19.xml" Id="Rc9129fe004624a76" /><Relationship Type="http://schemas.openxmlformats.org/officeDocument/2006/relationships/slide" Target="/ppt/slides/slide20.xml" Id="R6734d78a39c1410d" /><Relationship Type="http://schemas.openxmlformats.org/officeDocument/2006/relationships/slide" Target="/ppt/slides/slide21.xml" Id="R86a4b8b48092441c" /><Relationship Type="http://schemas.openxmlformats.org/officeDocument/2006/relationships/slide" Target="/ppt/slides/slide22.xml" Id="R032af323e4a942a4" /><Relationship Type="http://schemas.openxmlformats.org/officeDocument/2006/relationships/slide" Target="/ppt/slides/slide23.xml" Id="Rde7cb34f2e744ac7" /><Relationship Type="http://schemas.openxmlformats.org/officeDocument/2006/relationships/slide" Target="/ppt/slides/slide24.xml" Id="Rd875264fcd1d46b5" /><Relationship Type="http://schemas.openxmlformats.org/officeDocument/2006/relationships/slide" Target="/ppt/slides/slide25.xml" Id="Re4c557691ec24349" /><Relationship Type="http://schemas.openxmlformats.org/officeDocument/2006/relationships/slide" Target="/ppt/slides/slide26.xml" Id="Recb48303541e4f5b" /><Relationship Type="http://schemas.openxmlformats.org/officeDocument/2006/relationships/slide" Target="/ppt/slides/slide27.xml" Id="Ra4e6cae55fba473f" /><Relationship Type="http://schemas.openxmlformats.org/officeDocument/2006/relationships/slide" Target="/ppt/slides/slide28.xml" Id="Rc5da4f8a00714a5a" /><Relationship Type="http://schemas.openxmlformats.org/officeDocument/2006/relationships/slide" Target="/ppt/slides/slide29.xml" Id="Ra5323545f015416e" /><Relationship Type="http://schemas.openxmlformats.org/officeDocument/2006/relationships/slide" Target="/ppt/slides/slide30.xml" Id="R8384c8a9fea74583" /><Relationship Type="http://schemas.openxmlformats.org/officeDocument/2006/relationships/slide" Target="/ppt/slides/slide31.xml" Id="R4988833be4f94793" /><Relationship Type="http://schemas.openxmlformats.org/officeDocument/2006/relationships/slide" Target="/ppt/slides/slide32.xml" Id="R71ea8ea6fb974824" /><Relationship Type="http://schemas.openxmlformats.org/officeDocument/2006/relationships/slide" Target="/ppt/slides/slide33.xml" Id="R3ff65dcb75f44f9a" /><Relationship Type="http://schemas.openxmlformats.org/officeDocument/2006/relationships/slide" Target="/ppt/slides/slide34.xml" Id="R9f5e1284b4a544b8" /><Relationship Type="http://schemas.openxmlformats.org/officeDocument/2006/relationships/slide" Target="/ppt/slides/slide35.xml" Id="Raa813a08882d4a2f" /><Relationship Type="http://schemas.openxmlformats.org/officeDocument/2006/relationships/slide" Target="/ppt/slides/slide36.xml" Id="R0817bcc506624f57" /><Relationship Type="http://schemas.openxmlformats.org/officeDocument/2006/relationships/slide" Target="/ppt/slides/slide37.xml" Id="Rbb2b55cc40a44b5d" /><Relationship Type="http://schemas.openxmlformats.org/officeDocument/2006/relationships/slide" Target="/ppt/slides/slide38.xml" Id="R2182c1e489d646b1" /><Relationship Type="http://schemas.openxmlformats.org/officeDocument/2006/relationships/slide" Target="/ppt/slides/slide39.xml" Id="Rb26287170bdc4720" /><Relationship Type="http://schemas.openxmlformats.org/officeDocument/2006/relationships/slide" Target="/ppt/slides/slide40.xml" Id="R6033d1e579334e57" /><Relationship Type="http://schemas.openxmlformats.org/officeDocument/2006/relationships/slide" Target="/ppt/slides/slide41.xml" Id="Rae7b0a72eaf740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6e82af854742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15282a94bb441f" /><Relationship Type="http://schemas.openxmlformats.org/officeDocument/2006/relationships/notesMaster" Target="/ppt/notesMasters/notesMaster1.xml" Id="Rcfc2b84711f34f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ee389a3d8a47b3" /><Relationship Type="http://schemas.openxmlformats.org/officeDocument/2006/relationships/notesMaster" Target="/ppt/notesMasters/notesMaster1.xml" Id="Rdda5e1c38d394b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dbe41b6edd499e" /><Relationship Type="http://schemas.openxmlformats.org/officeDocument/2006/relationships/notesMaster" Target="/ppt/notesMasters/notesMaster1.xml" Id="R814254e17a6b48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ca8f8c42724fba" /><Relationship Type="http://schemas.openxmlformats.org/officeDocument/2006/relationships/notesMaster" Target="/ppt/notesMasters/notesMaster1.xml" Id="R412017a937924d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4f7bcdcbbf40a0" /><Relationship Type="http://schemas.openxmlformats.org/officeDocument/2006/relationships/notesMaster" Target="/ppt/notesMasters/notesMaster1.xml" Id="R53592696377940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68eda633af4a09" /><Relationship Type="http://schemas.openxmlformats.org/officeDocument/2006/relationships/notesMaster" Target="/ppt/notesMasters/notesMaster1.xml" Id="R01caa488342844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785e683f4f4bf9" /><Relationship Type="http://schemas.openxmlformats.org/officeDocument/2006/relationships/notesMaster" Target="/ppt/notesMasters/notesMaster1.xml" Id="R0e566f4f591948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1694652cb340c0" /><Relationship Type="http://schemas.openxmlformats.org/officeDocument/2006/relationships/notesMaster" Target="/ppt/notesMasters/notesMaster1.xml" Id="R225681038fba40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5f098a2cc74034" /><Relationship Type="http://schemas.openxmlformats.org/officeDocument/2006/relationships/notesMaster" Target="/ppt/notesMasters/notesMaster1.xml" Id="Rc1188d172ec04c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95acbb8b78465d" /><Relationship Type="http://schemas.openxmlformats.org/officeDocument/2006/relationships/notesMaster" Target="/ppt/notesMasters/notesMaster1.xml" Id="R372b1a165c4f46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a5969b441f42a0" /><Relationship Type="http://schemas.openxmlformats.org/officeDocument/2006/relationships/notesMaster" Target="/ppt/notesMasters/notesMaster1.xml" Id="R75b1c96fe4e945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6cce413e3245e6" /><Relationship Type="http://schemas.openxmlformats.org/officeDocument/2006/relationships/notesMaster" Target="/ppt/notesMasters/notesMaster1.xml" Id="R5e7458ae67af48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9ff6218e994e41" /><Relationship Type="http://schemas.openxmlformats.org/officeDocument/2006/relationships/notesMaster" Target="/ppt/notesMasters/notesMaster1.xml" Id="R8af4ad8edcfa4c3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b9c585233a74366" /><Relationship Type="http://schemas.openxmlformats.org/officeDocument/2006/relationships/notesMaster" Target="/ppt/notesMasters/notesMaster1.xml" Id="Rec22233d58184a3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b972ad7cfa4f3c" /><Relationship Type="http://schemas.openxmlformats.org/officeDocument/2006/relationships/notesMaster" Target="/ppt/notesMasters/notesMaster1.xml" Id="R15b78b451959462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4e070f63f5c47f0" /><Relationship Type="http://schemas.openxmlformats.org/officeDocument/2006/relationships/notesMaster" Target="/ppt/notesMasters/notesMaster1.xml" Id="R156d5d47d91c480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c2154936fa4b9a" /><Relationship Type="http://schemas.openxmlformats.org/officeDocument/2006/relationships/notesMaster" Target="/ppt/notesMasters/notesMaster1.xml" Id="R417d65a4a2bf495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981f55c16144591" /><Relationship Type="http://schemas.openxmlformats.org/officeDocument/2006/relationships/notesMaster" Target="/ppt/notesMasters/notesMaster1.xml" Id="R7c4101cb1f7c4e8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2fa3614e3d04860" /><Relationship Type="http://schemas.openxmlformats.org/officeDocument/2006/relationships/notesMaster" Target="/ppt/notesMasters/notesMaster1.xml" Id="R0dac61b2baef494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3cb97f4ecc045c6" /><Relationship Type="http://schemas.openxmlformats.org/officeDocument/2006/relationships/notesMaster" Target="/ppt/notesMasters/notesMaster1.xml" Id="R0f5a922dbbfc436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735c7998d4d4213" /><Relationship Type="http://schemas.openxmlformats.org/officeDocument/2006/relationships/notesMaster" Target="/ppt/notesMasters/notesMaster1.xml" Id="R15bdd74dca0b4ef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99c84deab48459f" /><Relationship Type="http://schemas.openxmlformats.org/officeDocument/2006/relationships/notesMaster" Target="/ppt/notesMasters/notesMaster1.xml" Id="R0c23ed56934245c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0c0d10e8042424f" /><Relationship Type="http://schemas.openxmlformats.org/officeDocument/2006/relationships/notesMaster" Target="/ppt/notesMasters/notesMaster1.xml" Id="R0f276eae19dd478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3b9022573a04a70" /><Relationship Type="http://schemas.openxmlformats.org/officeDocument/2006/relationships/notesMaster" Target="/ppt/notesMasters/notesMaster1.xml" Id="Redf75314ef774c6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30ca166dacc4d26" /><Relationship Type="http://schemas.openxmlformats.org/officeDocument/2006/relationships/notesMaster" Target="/ppt/notesMasters/notesMaster1.xml" Id="Re4cccc2660014cc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f135bf8a17341e9" /><Relationship Type="http://schemas.openxmlformats.org/officeDocument/2006/relationships/notesMaster" Target="/ppt/notesMasters/notesMaster1.xml" Id="R2c57299cb875445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af695ecf08144e0" /><Relationship Type="http://schemas.openxmlformats.org/officeDocument/2006/relationships/notesMaster" Target="/ppt/notesMasters/notesMaster1.xml" Id="R3879b037d4e640b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606d90e551142c9" /><Relationship Type="http://schemas.openxmlformats.org/officeDocument/2006/relationships/notesMaster" Target="/ppt/notesMasters/notesMaster1.xml" Id="Rfd433d6e96de4d4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2822e7dbcd248e4" /><Relationship Type="http://schemas.openxmlformats.org/officeDocument/2006/relationships/notesMaster" Target="/ppt/notesMasters/notesMaster1.xml" Id="R596e214d6387471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f01978ea3fc45cd" /><Relationship Type="http://schemas.openxmlformats.org/officeDocument/2006/relationships/notesMaster" Target="/ppt/notesMasters/notesMaster1.xml" Id="R25acb2281af441f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6c1b1d5dca947f7" /><Relationship Type="http://schemas.openxmlformats.org/officeDocument/2006/relationships/notesMaster" Target="/ppt/notesMasters/notesMaster1.xml" Id="Rf6a18634185547e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e94be6b467d4b1a" /><Relationship Type="http://schemas.openxmlformats.org/officeDocument/2006/relationships/notesMaster" Target="/ppt/notesMasters/notesMaster1.xml" Id="Rdcaba8c5be7b46a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88b407589d7423e" /><Relationship Type="http://schemas.openxmlformats.org/officeDocument/2006/relationships/notesMaster" Target="/ppt/notesMasters/notesMaster1.xml" Id="Rfa75fe13cddd48d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336d5b0dbf1465a" /><Relationship Type="http://schemas.openxmlformats.org/officeDocument/2006/relationships/notesMaster" Target="/ppt/notesMasters/notesMaster1.xml" Id="R6f733df7d968482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b9bdc9e52c449ea" /><Relationship Type="http://schemas.openxmlformats.org/officeDocument/2006/relationships/notesMaster" Target="/ppt/notesMasters/notesMaster1.xml" Id="R726326550eab41e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42011ddd25047ae" /><Relationship Type="http://schemas.openxmlformats.org/officeDocument/2006/relationships/notesMaster" Target="/ppt/notesMasters/notesMaster1.xml" Id="R29c385b3918640c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098257342c54481" /><Relationship Type="http://schemas.openxmlformats.org/officeDocument/2006/relationships/notesMaster" Target="/ppt/notesMasters/notesMaster1.xml" Id="R8ba900fe08cf432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98113f264bb4f21" /><Relationship Type="http://schemas.openxmlformats.org/officeDocument/2006/relationships/notesMaster" Target="/ppt/notesMasters/notesMaster1.xml" Id="R53675763c200448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183400633af46ca" /><Relationship Type="http://schemas.openxmlformats.org/officeDocument/2006/relationships/notesMaster" Target="/ppt/notesMasters/notesMaster1.xml" Id="Ra6950e48728a441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800c65e62f04b6b" /><Relationship Type="http://schemas.openxmlformats.org/officeDocument/2006/relationships/notesMaster" Target="/ppt/notesMasters/notesMaster1.xml" Id="Rba6c66e941df4a4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c54dab7de4f4bc0" /><Relationship Type="http://schemas.openxmlformats.org/officeDocument/2006/relationships/notesMaster" Target="/ppt/notesMasters/notesMaster1.xml" Id="Rd290a3a1d29042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Panduan berdasarkan fitur dan tampilan proyek HEJIRA. Semua contoh memakai aplikasi latihan SQLite terpisah, bukan data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Panduan berdasarkan fitur dan tampilan proyek HEJIRA. Semua contoh memakai aplikasi latihan SQLite terpisah, bukan data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Panduan berdasarkan fitur dan tampilan proyek HEJIRA. Semua contoh memakai aplikasi latihan SQLite terpisah, bukan data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SEMUA PENGGUNA</a:t>
            </a:r>
          </a:p>
          <a:p xmlns:a="http://schemas.openxmlformats.org/drawingml/2006/main">
            <a:r>
              <a:t>Masuk dengan akun Anda</a:t>
            </a:r>
          </a:p>
          <a:p xmlns:a="http://schemas.openxmlformats.org/drawingml/2006/main">
            <a:r>
              <a:t>Isi email akun: Gunakan email yang diberikan pengelola. Akun admin dan kasir memiliki menu yang berbeda.</a:t>
            </a:r>
          </a:p>
          <a:p xmlns:a="http://schemas.openxmlformats.org/drawingml/2006/main">
            <a:r>
              <a:t>Isi kata sandi: Masukkan kata sandi, lalu tekan Masuk. Jika gagal, periksa penulisan email dan kata sandi.</a:t>
            </a:r>
          </a:p>
          <a:p xmlns:a="http://schemas.openxmlformats.org/drawingml/2006/main">
            <a:r>
              <a:t>Gunakan alamat sistem Anda. Alamat localhost pada gambar hanya untuk aplikasi latihan.</a:t>
            </a:r>
          </a:p>
          <a:p xmlns:a="http://schemas.openxmlformats.org/drawingml/2006/main">
            <a:r>
              <a:t>Sumber: screenshot aplikasi HEJIRA latihan dari 01-login.png;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Kenali cabang dan menu utama</a:t>
            </a:r>
          </a:p>
          <a:p xmlns:a="http://schemas.openxmlformats.org/drawingml/2006/main">
            <a:r>
              <a:t>Periksa cabang: Pastikan nama cabang sesuai tempat Anda bekerja sebelum mencatat stok atau transaksi.</a:t>
            </a:r>
          </a:p>
          <a:p xmlns:a="http://schemas.openxmlformats.org/drawingml/2006/main">
            <a:r>
              <a:t>Produk dari master bersama: Bahan Izzi menggunakan produk yang sudah ada di master Gudang. Admin dapat menyesuaikan kemasan dan resep.</a:t>
            </a:r>
          </a:p>
          <a:p xmlns:a="http://schemas.openxmlformats.org/drawingml/2006/main">
            <a:r>
              <a:t>Pilih produk master yang benar, atur takaran resep, lalu catat stok yang benar-benar diterima.</a:t>
            </a:r>
          </a:p>
          <a:p xmlns:a="http://schemas.openxmlformats.org/drawingml/2006/main">
            <a:r>
              <a:t>Sumber: screenshot aplikasi HEJIRA latihan dari 02-dashboard.png;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Penyesuaian bahan dari master bersama</a:t>
            </a:r>
          </a:p>
          <a:p xmlns:a="http://schemas.openxmlformats.org/drawingml/2006/main">
            <a:r>
              <a:t>Sesuaikan produk yang ada: Tekan Sesuaikan kemasan pada produk yang dipakai Izzi. Nama, kode, dan satuannya mengikuti master.</a:t>
            </a:r>
          </a:p>
          <a:p xmlns:a="http://schemas.openxmlformats.org/drawingml/2006/main">
            <a:r>
              <a:t>Cari nama atau kode: Gunakan pencarian di seluruh master. Cocokkan kode dengan barang yang diterima dari Gudang.</a:t>
            </a:r>
          </a:p>
          <a:p xmlns:a="http://schemas.openxmlformats.org/drawingml/2006/main">
            <a:r>
              <a:t>Izzi memakai master bersama dengan Gudang, Jihans, dan Hendhys. Tidak perlu membuat bahan Izzi baru.</a:t>
            </a:r>
          </a:p>
          <a:p xmlns:a="http://schemas.openxmlformats.org/drawingml/2006/main">
            <a:r>
              <a:t>Sumber: screenshot aplikasi HEJIRA latihan dari 03-bahan-daftar.png;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Satuan master dan isi kemasan</a:t>
            </a:r>
          </a:p>
          <a:p xmlns:a="http://schemas.openxmlformats.org/drawingml/2006/main">
            <a:r>
              <a:t>Satuan mengikuti master: Satuan master tampil sebagai informasi tetap. Stok dan takaran resep memakai satuan tersebut.</a:t>
            </a:r>
          </a:p>
          <a:p xmlns:a="http://schemas.openxmlformats.org/drawingml/2006/main">
            <a:r>
              <a:t>Isi ditentukan pengguna: Tulis isi satu kemasan dalam satuan master. Gunakan isi kemasan yang benar-benar diterima.</a:t>
            </a:r>
          </a:p>
          <a:p xmlns:a="http://schemas.openxmlformats.org/drawingml/2006/main">
            <a:r>
              <a:t>Pengaturan kemasan bersifat pilihan. Penerimaan dan mutasi tetap dapat memakai satuan master langsung.</a:t>
            </a:r>
          </a:p>
          <a:p xmlns:a="http://schemas.openxmlformats.org/drawingml/2006/main">
            <a:r>
              <a:t>Sumber: screenshot aplikasi HEJIRA latihan dari 04-bahan-satuan.png;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Simpan penyesuaian kemasan</a:t>
            </a:r>
          </a:p>
          <a:p xmlns:a="http://schemas.openxmlformats.org/drawingml/2006/main">
            <a:r>
              <a:t>Periksa lalu simpan: Contoh latihan: 1 Karung latihan = 7,5 KG. Ganti nama dan isinya sesuai kemasan usaha Anda.</a:t>
            </a:r>
          </a:p>
          <a:p xmlns:a="http://schemas.openxmlformats.org/drawingml/2006/main">
            <a:r>
              <a:t>Penyesuaian hanya mengatur kemasan penerimaan langsung dari pemasok. Jumlah stok dan satuan master tetap.</a:t>
            </a:r>
          </a:p>
          <a:p xmlns:a="http://schemas.openxmlformats.org/drawingml/2006/main">
            <a:r>
              <a:t>Sumber: screenshot aplikasi HEJIRA latihan dari 05-bahan-simpan.png;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Buka Menu, Harga &amp; Gramasi</a:t>
            </a:r>
          </a:p>
          <a:p xmlns:a="http://schemas.openxmlformats.org/drawingml/2006/main">
            <a:r>
              <a:t>Buat menu baru: Pilih Tambah menu untuk menu jual yang belum tersedia, misalnya Kebab Original.</a:t>
            </a:r>
          </a:p>
          <a:p xmlns:a="http://schemas.openxmlformats.org/drawingml/2006/main">
            <a:r>
              <a:t>Perbaiki menu yang ada: Gunakan Edit menu &amp; resep untuk menyesuaikan harga atau takaran bahan menu tersebut.</a:t>
            </a:r>
          </a:p>
          <a:p xmlns:a="http://schemas.openxmlformats.org/drawingml/2006/main">
            <a:r>
              <a:t>Menu adalah barang yang dijual ke pelanggan. Gramasi berarti takaran bahan untuk membuat satu menu.</a:t>
            </a:r>
          </a:p>
          <a:p xmlns:a="http://schemas.openxmlformats.org/drawingml/2006/main">
            <a:r>
              <a:t>Sumber: screenshot aplikasi HEJIRA latihan dari 06-menu-daftar.png;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Isi nama menu dan harga jual</a:t>
            </a:r>
          </a:p>
          <a:p xmlns:a="http://schemas.openxmlformats.org/drawingml/2006/main">
            <a:r>
              <a:t>Nama yang dibaca kasir: Gunakan nama yang jelas. Lengkapi kode unik dan kelompok menu agar pencarian lebih mudah.</a:t>
            </a:r>
          </a:p>
          <a:p xmlns:a="http://schemas.openxmlformats.org/drawingml/2006/main">
            <a:r>
              <a:t>Harga satu menu: Ketik harga dalam angka rupiah. Contoh: 15000 berarti Rp15.000 untuk satu Kebab Original.</a:t>
            </a:r>
          </a:p>
          <a:p xmlns:a="http://schemas.openxmlformats.org/drawingml/2006/main">
            <a:r>
              <a:t>Harga pada contoh adalah data latihan. Gunakan harga yang ditetapkan usaha Anda.</a:t>
            </a:r>
          </a:p>
          <a:p xmlns:a="http://schemas.openxmlformats.org/drawingml/2006/main">
            <a:r>
              <a:t>Sumber: screenshot aplikasi HEJIRA latihan dari 07-menu-identitas.png;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Isi resep untuk satu menu</a:t>
            </a:r>
          </a:p>
          <a:p xmlns:a="http://schemas.openxmlformats.org/drawingml/2006/main">
            <a:r>
              <a:t>Baca satuan sebelum mengisi: Contoh pada master gram: isi 40 untuk 40 gram. Jika master KG, jumlah yang sama ditulis 0,04.</a:t>
            </a:r>
          </a:p>
          <a:p xmlns:a="http://schemas.openxmlformats.org/drawingml/2006/main">
            <a:r>
              <a:t>Takaran tortilla: Contoh: satu menu memakai 1 pcs tortilla. Isi takaran sesuai satuan bahan, bukan jumlah kemasan.</a:t>
            </a:r>
          </a:p>
          <a:p xmlns:a="http://schemas.openxmlformats.org/drawingml/2006/main">
            <a:r>
              <a:t>Takaran dan isi PACK ditentukan pengguna. Semua angka di panduan adalah contoh, bukan aturan baku.</a:t>
            </a:r>
          </a:p>
          <a:p xmlns:a="http://schemas.openxmlformats.org/drawingml/2006/main">
            <a:r>
              <a:t>Sumber: screenshot aplikasi HEJIRA latihan dari 08-resep-takaran.png;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Lengkapi semua bahan dalam resep</a:t>
            </a:r>
          </a:p>
          <a:p xmlns:a="http://schemas.openxmlformats.org/drawingml/2006/main">
            <a:r>
              <a:t>Tambahkan bahan lain: Masukkan saus, sayuran, dan seluruh bahan yang memang dipakai. Setiap bahan cukup satu baris.</a:t>
            </a:r>
          </a:p>
          <a:p xmlns:a="http://schemas.openxmlformats.org/drawingml/2006/main">
            <a:r>
              <a:t>Simpan menu &amp; resep: Aktifkan menu jika sudah siap dijual. Setelah disimpan, kasir dapat memakai menu sesuai stok bahan.</a:t>
            </a:r>
          </a:p>
          <a:p xmlns:a="http://schemas.openxmlformats.org/drawingml/2006/main">
            <a:r>
              <a:t>Perubahan resep berlaku untuk transaksi berikutnya. Rincian resep transaksi lama tetap tersimpan.</a:t>
            </a:r>
          </a:p>
          <a:p xmlns:a="http://schemas.openxmlformats.org/drawingml/2006/main">
            <a:r>
              <a:t>Sumber: screenshot aplikasi HEJIRA latihan dari 09-resep-simpan.png;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Catat bahan yang sudah diterima</a:t>
            </a:r>
          </a:p>
          <a:p xmlns:a="http://schemas.openxmlformats.org/drawingml/2006/main">
            <a:r>
              <a:t>Tulis asal barang: Isi nama pemasok atau keterangan dokumen. Lengkapi nomor bukti jika ada dan catatan kondisi barang.</a:t>
            </a:r>
          </a:p>
          <a:p xmlns:a="http://schemas.openxmlformats.org/drawingml/2006/main">
            <a:r>
              <a:t>Periksa tanggal dan jam: Tanggal dan jam menunjukkan kapan barang diterima. Jam pada sistem memakai WIB.</a:t>
            </a:r>
          </a:p>
          <a:p xmlns:a="http://schemas.openxmlformats.org/drawingml/2006/main">
            <a:r>
              <a:t>Terima Bahan menambah stok Izzi saja. Untuk perpindahan dari stok Gudang/cabang lain, gunakan Mutasi Stok.</a:t>
            </a:r>
          </a:p>
          <a:p xmlns:a="http://schemas.openxmlformats.org/drawingml/2006/main">
            <a:r>
              <a:t>Sumber: screenshot aplikasi HEJIRA latihan dari 10-terima-identitas.png;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Pilih bahan, satuan input, dan jumlah</a:t>
            </a:r>
          </a:p>
          <a:p xmlns:a="http://schemas.openxmlformats.org/drawingml/2006/main">
            <a:r>
              <a:t>Pilih cara menghitung: Pilih kemasan jika menghitung kemasan utuh. Pilih satuan dasar jika barang ditimbang langsung dalam gram.</a:t>
            </a:r>
          </a:p>
          <a:p xmlns:a="http://schemas.openxmlformats.org/drawingml/2006/main">
            <a:r>
              <a:t>Isi jumlah yang diterima: Contoh: 1 kemasan 2 kg menambah 2000 gram. Periksa hasil konversi yang tampil di bawah kolom.</a:t>
            </a:r>
          </a:p>
          <a:p xmlns:a="http://schemas.openxmlformats.org/drawingml/2006/main">
            <a:r>
              <a:t>Jangan mengisi 2000 saat satuan input masih kemasan 2 kg. Angka tersebut berarti 2000 kemasan.</a:t>
            </a:r>
          </a:p>
          <a:p xmlns:a="http://schemas.openxmlformats.org/drawingml/2006/main">
            <a:r>
              <a:t>Sumber: screenshot aplikasi HEJIRA latihan dari 11-terima-jumlah.png;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Simpan satu kali untuk satu penerimaan</a:t>
            </a:r>
          </a:p>
          <a:p xmlns:a="http://schemas.openxmlformats.org/drawingml/2006/main">
            <a:r>
              <a:t>Tambah stok penerimaan: Tekan setelah barang dan jumlahnya diperiksa. Tunggu bukti penerimaan muncul sebelum membuat catatan berikutnya.</a:t>
            </a:r>
          </a:p>
          <a:p xmlns:a="http://schemas.openxmlformats.org/drawingml/2006/main">
            <a:r>
              <a:t>Jangan mencatat barang yang sama lagi melalui Terima Bahan jika sudah masuk lewat mutasi.</a:t>
            </a:r>
          </a:p>
          <a:p xmlns:a="http://schemas.openxmlformats.org/drawingml/2006/main">
            <a:r>
              <a:t>Sumber: screenshot aplikasi HEJIRA latihan dari 12-terima-simpan.png;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Periksa bukti dan perubahan saldo</a:t>
            </a:r>
          </a:p>
          <a:p xmlns:a="http://schemas.openxmlformats.org/drawingml/2006/main">
            <a:r>
              <a:t>Nomor penerimaan: Nomor IZ-TERIMA menjadi rujukan catatan. Cocokkan asal, waktu, jumlah, dan saldo sebelum/sesudah.</a:t>
            </a:r>
          </a:p>
          <a:p xmlns:a="http://schemas.openxmlformats.org/drawingml/2006/main">
            <a:r>
              <a:t>Contoh: saldo daging 4000 gram ditambah 2000 gram menjadi 6000 gram.</a:t>
            </a:r>
          </a:p>
          <a:p xmlns:a="http://schemas.openxmlformats.org/drawingml/2006/main">
            <a:r>
              <a:t>Sumber: screenshot aplikasi HEJIRA latihan dari 13-terima-riwayat.png;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 DAN KASIR</a:t>
            </a:r>
          </a:p>
          <a:p xmlns:a="http://schemas.openxmlformats.org/drawingml/2006/main">
            <a:r>
              <a:t>Lihat stok bahan cabang aktif</a:t>
            </a:r>
          </a:p>
          <a:p xmlns:a="http://schemas.openxmlformats.org/drawingml/2006/main">
            <a:r>
              <a:t>Baca saldo dan satuan: Angka stok memakai satuan dasar bahan. Pada contoh, daging tersedia 6000 gram.</a:t>
            </a:r>
          </a:p>
          <a:p xmlns:a="http://schemas.openxmlformats.org/drawingml/2006/main">
            <a:r>
              <a:t>Cari bahan tertentu: Cari nama atau kode untuk mempercepat pemeriksaan. Periksa cabang sebelum membandingkan stok fisik.</a:t>
            </a:r>
          </a:p>
          <a:p xmlns:a="http://schemas.openxmlformats.org/drawingml/2006/main">
            <a:r>
              <a:t>Stok per cabang dapat berbeda. Perkiraan jumlah menu tersedia dihitung dari bahan dalam resep.</a:t>
            </a:r>
          </a:p>
          <a:p xmlns:a="http://schemas.openxmlformats.org/drawingml/2006/main">
            <a:r>
              <a:t>Sumber: screenshot aplikasi HEJIRA latihan dari 14-stok.png;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KASIR</a:t>
            </a:r>
          </a:p>
          <a:p xmlns:a="http://schemas.openxmlformats.org/drawingml/2006/main">
            <a:r>
              <a:t>Buka laci sebelum mulai menjual</a:t>
            </a:r>
          </a:p>
          <a:p xmlns:a="http://schemas.openxmlformats.org/drawingml/2006/main">
            <a:r>
              <a:t>Masukkan modal awal: Isi uang tunai yang benar-benar ada pada awal shift. Contoh: 100000 berarti Rp100.000.</a:t>
            </a:r>
          </a:p>
          <a:p xmlns:a="http://schemas.openxmlformats.org/drawingml/2006/main">
            <a:r>
              <a:t>Tekan Buka laci: Setelah laci aktif, lanjutkan ke kasir. Selesaikan laci yang masih aktif sebelum membuka laci baru.</a:t>
            </a:r>
          </a:p>
          <a:p xmlns:a="http://schemas.openxmlformats.org/drawingml/2006/main">
            <a:r>
              <a:t>Modal awal adalah uang awal laci, bukan omzet dan bukan saldo bahan.</a:t>
            </a:r>
          </a:p>
          <a:p xmlns:a="http://schemas.openxmlformats.org/drawingml/2006/main">
            <a:r>
              <a:t>Sumber: screenshot aplikasi HEJIRA latihan dari 15-laci-buka.png;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KASIR</a:t>
            </a:r>
          </a:p>
          <a:p xmlns:a="http://schemas.openxmlformats.org/drawingml/2006/main">
            <a:r>
              <a:t>Pilih menu pesanan pelanggan</a:t>
            </a:r>
          </a:p>
          <a:p xmlns:a="http://schemas.openxmlformats.org/drawingml/2006/main">
            <a:r>
              <a:t>Cari nama atau kode: Gunakan pencarian jika menu belum terlihat. Pilihan halaman berikutnya tersedia di bagian bawah katalog.</a:t>
            </a:r>
          </a:p>
          <a:p xmlns:a="http://schemas.openxmlformats.org/drawingml/2006/main">
            <a:r>
              <a:t>Tekan menu yang dipesan: Menu masuk ke daftar pesanan. Angka tersedia adalah perkiraan berdasarkan stok bahan saat itu.</a:t>
            </a:r>
          </a:p>
          <a:p xmlns:a="http://schemas.openxmlformats.org/drawingml/2006/main">
            <a:r>
              <a:t>Saat pembayaran, sistem memeriksa kebutuhan gabungan semua menu di pesanan.</a:t>
            </a:r>
          </a:p>
          <a:p xmlns:a="http://schemas.openxmlformats.org/drawingml/2006/main">
            <a:r>
              <a:t>Sumber: screenshot aplikasi HEJIRA latihan dari 16-kasir-menu.png;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KASIR</a:t>
            </a:r>
          </a:p>
          <a:p xmlns:a="http://schemas.openxmlformats.org/drawingml/2006/main">
            <a:r>
              <a:t>Periksa isi dan jumlah pesanan</a:t>
            </a:r>
          </a:p>
          <a:p xmlns:a="http://schemas.openxmlformats.org/drawingml/2006/main">
            <a:r>
              <a:t>Isi jumlah menu: Contoh: 2 Kebab Original × Rp15.000 menghasilkan total Rp30.000.</a:t>
            </a:r>
          </a:p>
          <a:p xmlns:a="http://schemas.openxmlformats.org/drawingml/2006/main">
            <a:r>
              <a:t>Hapus pilihan yang keliru: Gunakan Hapus sebelum pembayaran jika menu salah. Periksa kembali pesanan bersama pelanggan.</a:t>
            </a:r>
          </a:p>
          <a:p xmlns:a="http://schemas.openxmlformats.org/drawingml/2006/main">
            <a:r>
              <a:t>Mengubah pesanan di layar belum mengurangi stok. Pengurangan terjadi setelah pembayaran berhasil disimpan.</a:t>
            </a:r>
          </a:p>
          <a:p xmlns:a="http://schemas.openxmlformats.org/drawingml/2006/main">
            <a:r>
              <a:t>Sumber: screenshot aplikasi HEJIRA latihan dari 17-kasir-jumlah.png;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KASIR</a:t>
            </a:r>
          </a:p>
          <a:p xmlns:a="http://schemas.openxmlformats.org/drawingml/2006/main">
            <a:r>
              <a:t>Catat pembayaran tunai</a:t>
            </a:r>
          </a:p>
          <a:p xmlns:a="http://schemas.openxmlformats.org/drawingml/2006/main">
            <a:r>
              <a:t>Pilih Tunai: Gunakan pilihan ini jika uang diterima secara tunai. Nama pelanggan boleh dikosongkan.</a:t>
            </a:r>
          </a:p>
          <a:p xmlns:a="http://schemas.openxmlformats.org/drawingml/2006/main">
            <a:r>
              <a:t>Isi uang yang diterima: Untuk total Rp30.000 dan uang Rp50.000, kembalian yang tampil adalah Rp20.000.</a:t>
            </a:r>
          </a:p>
          <a:p xmlns:a="http://schemas.openxmlformats.org/drawingml/2006/main">
            <a:r>
              <a:t>Berikan kembalian sesuai angka yang tampil. Pastikan uang telah diterima sebelum menyimpan pembayaran.</a:t>
            </a:r>
          </a:p>
          <a:p xmlns:a="http://schemas.openxmlformats.org/drawingml/2006/main">
            <a:r>
              <a:t>Sumber: screenshot aplikasi HEJIRA latihan dari 18-bayar-tunai.png;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KASIR</a:t>
            </a:r>
          </a:p>
          <a:p xmlns:a="http://schemas.openxmlformats.org/drawingml/2006/main">
            <a:r>
              <a:t>Catat pembayaran transfer</a:t>
            </a:r>
          </a:p>
          <a:p xmlns:a="http://schemas.openxmlformats.org/drawingml/2006/main">
            <a:r>
              <a:t>Pilih Transfer: Periksa dana sudah masuk sesuai total pesanan. Pembayaran transfer tidak menambah uang tunai di laci.</a:t>
            </a:r>
          </a:p>
          <a:p xmlns:a="http://schemas.openxmlformats.org/drawingml/2006/main">
            <a:r>
              <a:t>Tulis keterangan bukti: Nomor atau keterangan bukti transfer boleh diisi untuk memudahkan penelusuran transaksi.</a:t>
            </a:r>
          </a:p>
          <a:p xmlns:a="http://schemas.openxmlformats.org/drawingml/2006/main">
            <a:r>
              <a:t>Contoh layar ini menunjukkan total Rp30.000. Transaksi latihan berikutnya disimpan dengan pembayaran tunai.</a:t>
            </a:r>
          </a:p>
          <a:p xmlns:a="http://schemas.openxmlformats.org/drawingml/2006/main">
            <a:r>
              <a:t>Sumber: screenshot aplikasi HEJIRA latihan dari 19-bayar-transfer.png;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KASIR</a:t>
            </a:r>
          </a:p>
          <a:p xmlns:a="http://schemas.openxmlformats.org/drawingml/2006/main">
            <a:r>
              <a:t>Simpan pembayaran dan potong bahan</a:t>
            </a:r>
          </a:p>
          <a:p xmlns:a="http://schemas.openxmlformats.org/drawingml/2006/main">
            <a:r>
              <a:t>Tekan setelah diperiksa: Tunggu sampai nomor transaksi dan rincian penjualan tampil. Semua bahan dipotong sesuai resep.</a:t>
            </a:r>
          </a:p>
          <a:p xmlns:a="http://schemas.openxmlformats.org/drawingml/2006/main">
            <a:r>
              <a:t>Jika muncul pesan stok tidak cukup atau harga berubah, periksa pesanan dan muat ulang katalog sebelum melanjutkan.</a:t>
            </a:r>
          </a:p>
          <a:p xmlns:a="http://schemas.openxmlformats.org/drawingml/2006/main">
            <a:r>
              <a:t>Sumber: screenshot aplikasi HEJIRA latihan dari 20-bayar-simpan.png;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KASIR</a:t>
            </a:r>
          </a:p>
          <a:p xmlns:a="http://schemas.openxmlformats.org/drawingml/2006/main">
            <a:r>
              <a:t>Pastikan bukti transaksi muncul</a:t>
            </a:r>
          </a:p>
          <a:p xmlns:a="http://schemas.openxmlformats.org/drawingml/2006/main">
            <a:r>
              <a:t>Simpan nomor penjualan: Nomor IZ-POS memudahkan pencarian jika perlu memeriksa transaksi atau melakukan pembatalan.</a:t>
            </a:r>
          </a:p>
          <a:p xmlns:a="http://schemas.openxmlformats.org/drawingml/2006/main">
            <a:r>
              <a:t>Cetak struk: Tekan Cetak struk, lalu gunakan pilihan cetak pada browser. Pilih printer yang benar.</a:t>
            </a:r>
          </a:p>
          <a:p xmlns:a="http://schemas.openxmlformats.org/drawingml/2006/main">
            <a:r>
              <a:t>Contoh: total Rp30.000, uang diterima Rp50.000, kembalian Rp20.000.</a:t>
            </a:r>
          </a:p>
          <a:p xmlns:a="http://schemas.openxmlformats.org/drawingml/2006/main">
            <a:r>
              <a:t>Sumber: screenshot aplikasi HEJIRA latihan dari 21-penjualan-bukti.png;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 DAN KASIR</a:t>
            </a:r>
          </a:p>
          <a:p xmlns:a="http://schemas.openxmlformats.org/drawingml/2006/main">
            <a:r>
              <a:t>Periksa bahan yang dipotong</a:t>
            </a:r>
          </a:p>
          <a:p xmlns:a="http://schemas.openxmlformats.org/drawingml/2006/main">
            <a:r>
              <a:t>Baca per menu dan total: Daging 40 gram per menu × 2 menu = 80 gram dipotong. Bahan lain juga mengikuti resepnya.</a:t>
            </a:r>
          </a:p>
          <a:p xmlns:a="http://schemas.openxmlformats.org/drawingml/2006/main">
            <a:r>
              <a:t>Rincian ini memakai resep saat transaksi terjadi. Resep yang diedit setelahnya tidak mengubah transaksi lama.</a:t>
            </a:r>
          </a:p>
          <a:p xmlns:a="http://schemas.openxmlformats.org/drawingml/2006/main">
            <a:r>
              <a:t>Sumber: screenshot aplikasi HEJIRA latihan dari 22-penjualan-bahan.png;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 DAN KASIR</a:t>
            </a:r>
          </a:p>
          <a:p xmlns:a="http://schemas.openxmlformats.org/drawingml/2006/main">
            <a:r>
              <a:t>Telusuri riwayat keluar masuk bahan</a:t>
            </a:r>
          </a:p>
          <a:p xmlns:a="http://schemas.openxmlformats.org/drawingml/2006/main">
            <a:r>
              <a:t>Cari bahan atau dokumen: Gunakan pencarian saat ingin mencocokkan penerimaan, penjualan, pembatalan, atau perubahan saldo.</a:t>
            </a:r>
          </a:p>
          <a:p xmlns:a="http://schemas.openxmlformats.org/drawingml/2006/main">
            <a:r>
              <a:t>Buka transaksi asal: Lihat penjualan &amp; bahan membuka rincian menu yang menyebabkan bahan berkurang.</a:t>
            </a:r>
          </a:p>
          <a:p xmlns:a="http://schemas.openxmlformats.org/drawingml/2006/main">
            <a:r>
              <a:t>Perhatikan saldo sebelum, saldo sesudah, waktu WIB, dan petugas pada setiap catatan.</a:t>
            </a:r>
          </a:p>
          <a:p xmlns:a="http://schemas.openxmlformats.org/drawingml/2006/main">
            <a:r>
              <a:t>Sumber: screenshot aplikasi HEJIRA latihan dari 23-kartu-stok.png;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 DAN KASIR</a:t>
            </a:r>
          </a:p>
          <a:p xmlns:a="http://schemas.openxmlformats.org/drawingml/2006/main">
            <a:r>
              <a:t>Pilih asal dan tujuan mutasi</a:t>
            </a:r>
          </a:p>
          <a:p xmlns:a="http://schemas.openxmlformats.org/drawingml/2006/main">
            <a:r>
              <a:t>Pastikan lokasi asal: Stok berkurang dari lokasi pengirim. Petugas hanya dapat mengirim dari lokasi yang boleh dikelolanya.</a:t>
            </a:r>
          </a:p>
          <a:p xmlns:a="http://schemas.openxmlformats.org/drawingml/2006/main">
            <a:r>
              <a:t>Pilih cabang atau Gudang: Contoh ini memindahkan bahan dari Izzi ke Gudang Utama. Arah sebaliknya dicatat petugas Gudang yang berwenang.</a:t>
            </a:r>
          </a:p>
          <a:p xmlns:a="http://schemas.openxmlformats.org/drawingml/2006/main">
            <a:r>
              <a:t>Mutasi baru dicatat setelah barang diterima. Isi nama pengirim, penerima, tanggal/jam WIB, dan alasan.</a:t>
            </a:r>
          </a:p>
          <a:p xmlns:a="http://schemas.openxmlformats.org/drawingml/2006/main">
            <a:r>
              <a:t>Sumber: screenshot aplikasi HEJIRA latihan dari 24-mutasi-tujuan.png;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 DAN KASIR</a:t>
            </a:r>
          </a:p>
          <a:p xmlns:a="http://schemas.openxmlformats.org/drawingml/2006/main">
            <a:r>
              <a:t>Pilih barang dan jumlah yang dipindahkan</a:t>
            </a:r>
          </a:p>
          <a:p xmlns:a="http://schemas.openxmlformats.org/drawingml/2006/main">
            <a:r>
              <a:t>Pilih produk master yang sama: Izzi memakai produk yang sama di asal dan tujuan. Periksa kode dan satuan yang tampil.</a:t>
            </a:r>
          </a:p>
          <a:p xmlns:a="http://schemas.openxmlformats.org/drawingml/2006/main">
            <a:r>
              <a:t>Jumlah dalam satuan master: Contoh ini memindahkan 1 KG. Saldo asal 3 KG menjadi 2 KG, sedangkan tujuan menerima 1 KG.</a:t>
            </a:r>
          </a:p>
          <a:p xmlns:a="http://schemas.openxmlformats.org/drawingml/2006/main">
            <a:r>
              <a:t>Pilih jumlah sesuai barang fisik. Mutasi Izzi tidak memerlukan produk tujuan atau konversi ke master lain.</a:t>
            </a:r>
          </a:p>
          <a:p xmlns:a="http://schemas.openxmlformats.org/drawingml/2006/main">
            <a:r>
              <a:t>Sumber: screenshot aplikasi HEJIRA latihan dari 25-mutasi-barang.png;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 DAN KASIR</a:t>
            </a:r>
          </a:p>
          <a:p xmlns:a="http://schemas.openxmlformats.org/drawingml/2006/main">
            <a:r>
              <a:t>Periksa barang sudah diterima</a:t>
            </a:r>
          </a:p>
          <a:p xmlns:a="http://schemas.openxmlformats.org/drawingml/2006/main">
            <a:r>
              <a:t>Baca pernyataan ini: Centang setelah memastikan barang diterima dan perpindahan yang sama belum pernah dicatat.</a:t>
            </a:r>
          </a:p>
          <a:p xmlns:a="http://schemas.openxmlformats.org/drawingml/2006/main">
            <a:r>
              <a:t>Simpan mutasi selesai: Sekali simpan mengurangi stok asal dan menambah stok tujuan bersama-sama. Tunggu bukti mutasi.</a:t>
            </a:r>
          </a:p>
          <a:p xmlns:a="http://schemas.openxmlformats.org/drawingml/2006/main">
            <a:r>
              <a:t>Jangan mencatat penerimaan yang sama lagi lewat Terima Bahan.</a:t>
            </a:r>
          </a:p>
          <a:p xmlns:a="http://schemas.openxmlformats.org/drawingml/2006/main">
            <a:r>
              <a:t>Sumber: screenshot aplikasi HEJIRA latihan dari 26-mutasi-konfirmasi.png;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 DAN KASIR</a:t>
            </a:r>
          </a:p>
          <a:p xmlns:a="http://schemas.openxmlformats.org/drawingml/2006/main">
            <a:r>
              <a:t>Cocokkan bukti mutasi selesai</a:t>
            </a:r>
          </a:p>
          <a:p xmlns:a="http://schemas.openxmlformats.org/drawingml/2006/main">
            <a:r>
              <a:t>Pastikan status selesai: Selesai diterima berarti pengurangan asal dan penambahan tujuan sudah tersimpan.</a:t>
            </a:r>
          </a:p>
          <a:p xmlns:a="http://schemas.openxmlformats.org/drawingml/2006/main">
            <a:r>
              <a:t>Gunakan nomor mutasi: Nomor MUT menjadi rujukan. Bagian Jejak perubahan stok menunjukkan saldo asal dan tujuan.</a:t>
            </a:r>
          </a:p>
          <a:p xmlns:a="http://schemas.openxmlformats.org/drawingml/2006/main">
            <a:r>
              <a:t>Contoh lain pada bukti ini memakai master gram: Izzi berkurang 200 gram dan Gudang bertambah 200 gram.</a:t>
            </a:r>
          </a:p>
          <a:p xmlns:a="http://schemas.openxmlformats.org/drawingml/2006/main">
            <a:r>
              <a:t>Sumber: screenshot aplikasi HEJIRA latihan dari 27-mutasi-hasil.png;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Pembatalan dilakukan oleh admin</a:t>
            </a:r>
          </a:p>
          <a:p xmlns:a="http://schemas.openxmlformats.org/drawingml/2006/main">
            <a:r>
              <a:t>Buka catatan pembatalan: Cari transaksi yang benar, lalu tekan Catat pembatalan menu. Laci transaksi harus masih terbuka.</a:t>
            </a:r>
          </a:p>
          <a:p xmlns:a="http://schemas.openxmlformats.org/drawingml/2006/main">
            <a:r>
              <a:t>Kasir menghubungi admin jika perlu pembatalan. Pembatalan tidak boleh mengubah rekap laci yang sudah ditutup.</a:t>
            </a:r>
          </a:p>
          <a:p xmlns:a="http://schemas.openxmlformats.org/drawingml/2006/main">
            <a:r>
              <a:t>Sumber: screenshot aplikasi HEJIRA latihan dari 28-batal-tombol.png;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Bedakan belum dibuat dan terbuang</a:t>
            </a:r>
          </a:p>
          <a:p xmlns:a="http://schemas.openxmlformats.org/drawingml/2006/main">
            <a:r>
              <a:t>Menu belum dibuat: Isi jumlah menu yang belum dibuat. Bahan sesuai resep akan dikembalikan ke stok.</a:t>
            </a:r>
          </a:p>
          <a:p xmlns:a="http://schemas.openxmlformats.org/drawingml/2006/main">
            <a:r>
              <a:t>Menu sudah dibuat: Isi menu yang sudah dibuat lalu terbuang. Bahannya tetap terpakai dan tidak dipotong dua kali.</a:t>
            </a:r>
          </a:p>
          <a:p xmlns:a="http://schemas.openxmlformats.org/drawingml/2006/main">
            <a:r>
              <a:t>Isi kondisi yang sebenarnya. Jumlah kedua kolom tidak boleh melebihi sisa menu yang belum dibatalkan.</a:t>
            </a:r>
          </a:p>
          <a:p xmlns:a="http://schemas.openxmlformats.org/drawingml/2006/main">
            <a:r>
              <a:t>Sumber: screenshot aplikasi HEJIRA latihan dari 29-batal-kondisi.png;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Isi alasan dan periksa pembatalan</a:t>
            </a:r>
          </a:p>
          <a:p xmlns:a="http://schemas.openxmlformats.org/drawingml/2006/main">
            <a:r>
              <a:t>Jelaskan kejadiannya: Tuliskan alasan yang mudah ditelusuri. Contoh: pelanggan membatalkan satu menu yang belum dibuat.</a:t>
            </a:r>
          </a:p>
          <a:p xmlns:a="http://schemas.openxmlformats.org/drawingml/2006/main">
            <a:r>
              <a:t>Simpan setelah konfirmasi: Centang pernyataan pemeriksaan, lalu simpan. Periksa nilai pengembalian uang pada hasil pembatalan.</a:t>
            </a:r>
          </a:p>
          <a:p xmlns:a="http://schemas.openxmlformats.org/drawingml/2006/main">
            <a:r>
              <a:t>Pencatatan pembatalan tidak menyerahkan uang secara otomatis. Petugas tetap perlu mengembalikan uang kepada pelanggan.</a:t>
            </a:r>
          </a:p>
          <a:p xmlns:a="http://schemas.openxmlformats.org/drawingml/2006/main">
            <a:r>
              <a:t>Sumber: screenshot aplikasi HEJIRA latihan dari 30-batal-simpan.png;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Periksa penjualan bersih sesudah batal</a:t>
            </a:r>
          </a:p>
          <a:p xmlns:a="http://schemas.openxmlformats.org/drawingml/2006/main">
            <a:r>
              <a:t>Cocokkan nilai bersih: Penjualan awal Rp30.000 dikurangi pembatalan Rp15.000 menjadi penjualan bersih Rp15.000.</a:t>
            </a:r>
          </a:p>
          <a:p xmlns:a="http://schemas.openxmlformats.org/drawingml/2006/main">
            <a:r>
              <a:t>Pada contoh belum dibuat 1 menu, daging 40 gram dan bahan resep lainnya dikembalikan ke stok.</a:t>
            </a:r>
          </a:p>
          <a:p xmlns:a="http://schemas.openxmlformats.org/drawingml/2006/main">
            <a:r>
              <a:t>Sumber: screenshot aplikasi HEJIRA latihan dari 31-batal-hasil.png;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KASIR</a:t>
            </a:r>
          </a:p>
          <a:p xmlns:a="http://schemas.openxmlformats.org/drawingml/2006/main">
            <a:r>
              <a:t>Hitung uang lalu tutup laci</a:t>
            </a:r>
          </a:p>
          <a:p xmlns:a="http://schemas.openxmlformats.org/drawingml/2006/main">
            <a:r>
              <a:t>Isi uang fisik akhir: Hitung uang yang benar-benar ada. Contoh: modal Rp100.000 + tunai bersih Rp15.000 = Rp115.000.</a:t>
            </a:r>
          </a:p>
          <a:p xmlns:a="http://schemas.openxmlformats.org/drawingml/2006/main">
            <a:r>
              <a:t>Simpan rekap penutupan: Tulis alasan bila ada selisih. Pastikan pengembalian uang pembatalan sudah selesai sebelum menutup laci.</a:t>
            </a:r>
          </a:p>
          <a:p xmlns:a="http://schemas.openxmlformats.org/drawingml/2006/main">
            <a:r>
              <a:t>Uang transfer tidak dihitung sebagai uang tunai laci. Setelah ditutup, transaksi shift tersebut tidak dapat dibatalkan.</a:t>
            </a:r>
          </a:p>
          <a:p xmlns:a="http://schemas.openxmlformats.org/drawingml/2006/main">
            <a:r>
              <a:t>Sumber: screenshot aplikasi HEJIRA latihan dari 32-laci-tutup.png;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KASIR DAN ADMIN</a:t>
            </a:r>
          </a:p>
          <a:p xmlns:a="http://schemas.openxmlformats.org/drawingml/2006/main">
            <a:r>
              <a:t>Periksa rekap laci ditutup</a:t>
            </a:r>
          </a:p>
          <a:p xmlns:a="http://schemas.openxmlformats.org/drawingml/2006/main">
            <a:r>
              <a:t>Status sudah ditutup: Periksa nama kasir dan waktu buka/tutup. Riwayat ini menjadi catatan satu shift kerja.</a:t>
            </a:r>
          </a:p>
          <a:p xmlns:a="http://schemas.openxmlformats.org/drawingml/2006/main">
            <a:r>
              <a:t>Baca selisih uang: Selisih membandingkan uang fisik yang dihitung dengan perkiraan sistem. Contoh ini menunjukkan Rp0.</a:t>
            </a:r>
          </a:p>
          <a:p xmlns:a="http://schemas.openxmlformats.org/drawingml/2006/main">
            <a:r>
              <a:t>Jika ada selisih, tulis sebab yang sebenarnya; jangan mengubah angka hanya agar hasilnya nol.</a:t>
            </a:r>
          </a:p>
          <a:p xmlns:a="http://schemas.openxmlformats.org/drawingml/2006/main">
            <a:r>
              <a:t>Sumber: screenshot aplikasi HEJIRA latihan dari 33-laci-riwayat.png;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 DAN KASIR</a:t>
            </a:r>
          </a:p>
          <a:p xmlns:a="http://schemas.openxmlformats.org/drawingml/2006/main">
            <a:r>
              <a:t>Stock opname memerlukan izin Owner</a:t>
            </a:r>
          </a:p>
          <a:p xmlns:a="http://schemas.openxmlformats.org/drawingml/2006/main">
            <a:r>
              <a:t>Pastikan sesi aktif: Owner membuka sesi untuk lokasi tertentu dengan batas waktu. Periksa nama cabang dan instruksinya.</a:t>
            </a:r>
          </a:p>
          <a:p xmlns:a="http://schemas.openxmlformats.org/drawingml/2006/main">
            <a:r>
              <a:t>Mulai hitung fisik: Buka sesi yang sesuai. Hentikan pergerakan bahan sementara agar hasil hitung tetap cocok.</a:t>
            </a:r>
          </a:p>
          <a:p xmlns:a="http://schemas.openxmlformats.org/drawingml/2006/main">
            <a:r>
              <a:t>Jika belum ada sesi atau waktunya habis, minta Owner membuka atau memperpanjang akses.</a:t>
            </a:r>
          </a:p>
          <a:p xmlns:a="http://schemas.openxmlformats.org/drawingml/2006/main">
            <a:r>
              <a:t>Sumber: screenshot aplikasi HEJIRA latihan dari 34-so-sesi.png;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 DAN KASIR</a:t>
            </a:r>
          </a:p>
          <a:p xmlns:a="http://schemas.openxmlformats.org/drawingml/2006/main">
            <a:r>
              <a:t>Isi total hasil hitung fisik</a:t>
            </a:r>
          </a:p>
          <a:p xmlns:a="http://schemas.openxmlformats.org/drawingml/2006/main">
            <a:r>
              <a:t>Masukkan saldo akhir fisik: Jika hasil timbang 5750 gram, masukkan 5750. Jangan memasukkan angka selisih 10 gram.</a:t>
            </a:r>
          </a:p>
          <a:p xmlns:a="http://schemas.openxmlformats.org/drawingml/2006/main">
            <a:r>
              <a:t>Contoh: sistem 5760 gram, fisik 5750 gram. Sistem menghitung selisih -10 gram.</a:t>
            </a:r>
          </a:p>
          <a:p xmlns:a="http://schemas.openxmlformats.org/drawingml/2006/main">
            <a:r>
              <a:t>Sumber: screenshot aplikasi HEJIRA latihan dari 35-so-jumlah.png;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 DAN KASIR</a:t>
            </a:r>
          </a:p>
          <a:p xmlns:a="http://schemas.openxmlformats.org/drawingml/2006/main">
            <a:r>
              <a:t>Jelaskan selisih lalu simpan SO</a:t>
            </a:r>
          </a:p>
          <a:p xmlns:a="http://schemas.openxmlformats.org/drawingml/2006/main">
            <a:r>
              <a:t>Catat hasil pemeriksaan: Jelaskan hasil hitung dan sebab selisih sesuai temuan. Periksa kembali satuan yang digunakan.</a:t>
            </a:r>
          </a:p>
          <a:p xmlns:a="http://schemas.openxmlformats.org/drawingml/2006/main">
            <a:r>
              <a:t>Simpan hasil hitung: Centang konfirmasi fisik lalu simpan. Saldo lokasi akan mengikuti angka hasil hitung Anda.</a:t>
            </a:r>
          </a:p>
          <a:p xmlns:a="http://schemas.openxmlformats.org/drawingml/2006/main">
            <a:r>
              <a:t>Satu produk disimpan sekali per sesi. Jika stok berubah selama menghitung, muat ulang dan hitung kembali.</a:t>
            </a:r>
          </a:p>
          <a:p xmlns:a="http://schemas.openxmlformats.org/drawingml/2006/main">
            <a:r>
              <a:t>Sumber: screenshot aplikasi HEJIRA latihan dari 36-so-simpan.png;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 DAN KASIR</a:t>
            </a:r>
          </a:p>
          <a:p xmlns:a="http://schemas.openxmlformats.org/drawingml/2006/main">
            <a:r>
              <a:t>Lihat petugas dan jejak hasil SO</a:t>
            </a:r>
          </a:p>
          <a:p xmlns:a="http://schemas.openxmlformats.org/drawingml/2006/main">
            <a:r>
              <a:t>Buka detail hasil hitung: Detail menunjukkan saldo sebelum/sesudah, selisih, petugas, alasan, izin Owner, dan jejak penyesuaian.</a:t>
            </a:r>
          </a:p>
          <a:p xmlns:a="http://schemas.openxmlformats.org/drawingml/2006/main">
            <a:r>
              <a:t>Gunakan Riwayat SO untuk mencari hasil berdasarkan produk, tanggal, petugas, atau sesi.</a:t>
            </a:r>
          </a:p>
          <a:p xmlns:a="http://schemas.openxmlformats.org/drawingml/2006/main">
            <a:r>
              <a:t>Sumber: screenshot aplikasi HEJIRA latihan dari 37-so-hasil.png;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Panduan berdasarkan fitur dan tampilan proyek HEJIRA. Semua contoh memakai aplikasi latihan SQLite terpisah, bukan data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4b069f7b0143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eeec45460a46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63c706329a40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f50e996a084e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ff0090060449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d1413856a347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27AEFA-ACF3-4A95-AE1B-D3EF854998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2BA6DB3-FFC1-4A49-927F-AAC239C2C4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96E857B-C229-471E-B043-2139AAC2D9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EC6279-37C5-424E-9A42-7498BB48AD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CED6381-1F64-4780-A528-339A221BCF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3773A7-02D1-481B-A120-1986B7642B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3250D9-A879-44FB-BFA1-E93CA014BE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599EB1E-8806-4AD1-8DF0-B590B94D12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41AFC8-6413-499D-BD36-04E1DA7475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4F9B2A2-0795-4263-9382-6B82E4FFAB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7dcad049a743b4" /><Relationship Type="http://schemas.openxmlformats.org/officeDocument/2006/relationships/slideLayout" Target="/ppt/slideLayouts/slideLayout1.xml" Id="Rbfebc74f8ad440ef" /><Relationship Type="http://schemas.openxmlformats.org/officeDocument/2006/relationships/slideLayout" Target="/ppt/slideLayouts/slideLayout2.xml" Id="Rbb4cb9cea8a24349" /><Relationship Type="http://schemas.openxmlformats.org/officeDocument/2006/relationships/slideLayout" Target="/ppt/slideLayouts/slideLayout3.xml" Id="R7b855deda77e414c" /><Relationship Type="http://schemas.openxmlformats.org/officeDocument/2006/relationships/slideLayout" Target="/ppt/slideLayouts/slideLayout4.xml" Id="R449d2865d1764b2e" /><Relationship Type="http://schemas.openxmlformats.org/officeDocument/2006/relationships/slideLayout" Target="/ppt/slideLayouts/slideLayout5.xml" Id="Re1c0376b285444c2" /><Relationship Type="http://schemas.openxmlformats.org/officeDocument/2006/relationships/slideLayout" Target="/ppt/slideLayouts/slideLayout6.xml" Id="R1852fa82a04743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ebc74f8ad440ef"/>
    <p:sldLayoutId xmlns:r="http://schemas.openxmlformats.org/officeDocument/2006/relationships" id="2147483650" r:id="Rbb4cb9cea8a24349"/>
    <p:sldLayoutId xmlns:r="http://schemas.openxmlformats.org/officeDocument/2006/relationships" id="2147483651" r:id="R7b855deda77e414c"/>
    <p:sldLayoutId xmlns:r="http://schemas.openxmlformats.org/officeDocument/2006/relationships" id="2147483652" r:id="R449d2865d1764b2e"/>
    <p:sldLayoutId xmlns:r="http://schemas.openxmlformats.org/officeDocument/2006/relationships" id="2147483653" r:id="Re1c0376b285444c2"/>
    <p:sldLayoutId xmlns:r="http://schemas.openxmlformats.org/officeDocument/2006/relationships" id="2147483654" r:id="R1852fa82a04743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593d8c182f4508" /><Relationship Type="http://schemas.openxmlformats.org/officeDocument/2006/relationships/notesSlide" Target="/ppt/notesSlides/notesSlide1.xml" Id="R4ebff467241643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6caba56f9143cc" /><Relationship Type="http://schemas.openxmlformats.org/officeDocument/2006/relationships/notesSlide" Target="/ppt/notesSlides/notesSlide2.xml" Id="R2a8f4ff308d24f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9fdfc00b9a4a5e" /><Relationship Type="http://schemas.openxmlformats.org/officeDocument/2006/relationships/notesSlide" Target="/ppt/notesSlides/notesSlide3.xml" Id="Rfaa51dda89b149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d3f8ce1873469c" /><Relationship Type="http://schemas.openxmlformats.org/officeDocument/2006/relationships/image" Target="/ppt/media/image.jpeg" Id="Rc9f41ccd943c45ea" /><Relationship Type="http://schemas.openxmlformats.org/officeDocument/2006/relationships/notesSlide" Target="/ppt/notesSlides/notesSlide4.xml" Id="R9a4dc2d57b244d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cdd2fb9a0644ea" /><Relationship Type="http://schemas.openxmlformats.org/officeDocument/2006/relationships/image" Target="/ppt/media/image2.jpeg" Id="Rb81b8e97bb8c4b27" /><Relationship Type="http://schemas.openxmlformats.org/officeDocument/2006/relationships/notesSlide" Target="/ppt/notesSlides/notesSlide5.xml" Id="R626df046808144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fd637a9540457d" /><Relationship Type="http://schemas.openxmlformats.org/officeDocument/2006/relationships/image" Target="/ppt/media/image3.jpeg" Id="Rd0bc257f24194200" /><Relationship Type="http://schemas.openxmlformats.org/officeDocument/2006/relationships/notesSlide" Target="/ppt/notesSlides/notesSlide6.xml" Id="Rc860ca4476764b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d3971e230042a8" /><Relationship Type="http://schemas.openxmlformats.org/officeDocument/2006/relationships/image" Target="/ppt/media/image4.jpeg" Id="Rf3c891d3494d4c2c" /><Relationship Type="http://schemas.openxmlformats.org/officeDocument/2006/relationships/notesSlide" Target="/ppt/notesSlides/notesSlide7.xml" Id="R42fd1469bbde4f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fea840d38b4de4" /><Relationship Type="http://schemas.openxmlformats.org/officeDocument/2006/relationships/image" Target="/ppt/media/image5.jpeg" Id="Rfa4016b0995e4839" /><Relationship Type="http://schemas.openxmlformats.org/officeDocument/2006/relationships/notesSlide" Target="/ppt/notesSlides/notesSlide8.xml" Id="R871bde8af45744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4ed6dcc7894a38" /><Relationship Type="http://schemas.openxmlformats.org/officeDocument/2006/relationships/image" Target="/ppt/media/image6.jpeg" Id="Red9293e97b2e494c" /><Relationship Type="http://schemas.openxmlformats.org/officeDocument/2006/relationships/notesSlide" Target="/ppt/notesSlides/notesSlide9.xml" Id="Rd71d1bdcc55045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52de5663c14dbd" /><Relationship Type="http://schemas.openxmlformats.org/officeDocument/2006/relationships/image" Target="/ppt/media/image7.jpeg" Id="Rfba640ecd42f4ebc" /><Relationship Type="http://schemas.openxmlformats.org/officeDocument/2006/relationships/notesSlide" Target="/ppt/notesSlides/notesSlide10.xml" Id="R43bbf7108cf441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43c867890841ec" /><Relationship Type="http://schemas.openxmlformats.org/officeDocument/2006/relationships/image" Target="/ppt/media/image8.jpeg" Id="R80510a9525f046ff" /><Relationship Type="http://schemas.openxmlformats.org/officeDocument/2006/relationships/notesSlide" Target="/ppt/notesSlides/notesSlide11.xml" Id="R04589d8040ce46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de6b058e444a62" /><Relationship Type="http://schemas.openxmlformats.org/officeDocument/2006/relationships/image" Target="/ppt/media/image9.jpeg" Id="Rc8971dae16c547fe" /><Relationship Type="http://schemas.openxmlformats.org/officeDocument/2006/relationships/notesSlide" Target="/ppt/notesSlides/notesSlide12.xml" Id="R01eedf21fe5d4e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07d57c5c304006" /><Relationship Type="http://schemas.openxmlformats.org/officeDocument/2006/relationships/image" Target="/ppt/media/image10.jpeg" Id="R02b94db0d8b74daf" /><Relationship Type="http://schemas.openxmlformats.org/officeDocument/2006/relationships/notesSlide" Target="/ppt/notesSlides/notesSlide13.xml" Id="R8d36a8046f39425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1feef499e2490c" /><Relationship Type="http://schemas.openxmlformats.org/officeDocument/2006/relationships/image" Target="/ppt/media/image11.jpeg" Id="Rfd924f6508bc41d9" /><Relationship Type="http://schemas.openxmlformats.org/officeDocument/2006/relationships/notesSlide" Target="/ppt/notesSlides/notesSlide14.xml" Id="Rbc69a916b7b540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6b6610944c44ed" /><Relationship Type="http://schemas.openxmlformats.org/officeDocument/2006/relationships/image" Target="/ppt/media/image12.jpeg" Id="Rc6a6ff70e04b4174" /><Relationship Type="http://schemas.openxmlformats.org/officeDocument/2006/relationships/notesSlide" Target="/ppt/notesSlides/notesSlide15.xml" Id="R8e111e4ee67e417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4d5796a4ed4d14" /><Relationship Type="http://schemas.openxmlformats.org/officeDocument/2006/relationships/image" Target="/ppt/media/image13.jpeg" Id="R5fda4fa27a064aac" /><Relationship Type="http://schemas.openxmlformats.org/officeDocument/2006/relationships/notesSlide" Target="/ppt/notesSlides/notesSlide16.xml" Id="R1966b65edb4c48e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78017b1c0a4775" /><Relationship Type="http://schemas.openxmlformats.org/officeDocument/2006/relationships/image" Target="/ppt/media/image14.jpeg" Id="Rad829ab1d45644b7" /><Relationship Type="http://schemas.openxmlformats.org/officeDocument/2006/relationships/notesSlide" Target="/ppt/notesSlides/notesSlide17.xml" Id="Rb661ffbc44da46d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039096be2f4ddc" /><Relationship Type="http://schemas.openxmlformats.org/officeDocument/2006/relationships/image" Target="/ppt/media/image15.jpeg" Id="R239399f722c646a2" /><Relationship Type="http://schemas.openxmlformats.org/officeDocument/2006/relationships/notesSlide" Target="/ppt/notesSlides/notesSlide18.xml" Id="R3be456878c0942a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53ca43e722498a" /><Relationship Type="http://schemas.openxmlformats.org/officeDocument/2006/relationships/image" Target="/ppt/media/image16.jpeg" Id="R34bacd9a64884d45" /><Relationship Type="http://schemas.openxmlformats.org/officeDocument/2006/relationships/notesSlide" Target="/ppt/notesSlides/notesSlide19.xml" Id="Rd3adc08015d3415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47b56587ca45e4" /><Relationship Type="http://schemas.openxmlformats.org/officeDocument/2006/relationships/image" Target="/ppt/media/image17.jpeg" Id="R666ba28fb8ed4fa8" /><Relationship Type="http://schemas.openxmlformats.org/officeDocument/2006/relationships/notesSlide" Target="/ppt/notesSlides/notesSlide20.xml" Id="Rb052b76cda5744b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d09f6a56064aca" /><Relationship Type="http://schemas.openxmlformats.org/officeDocument/2006/relationships/image" Target="/ppt/media/image18.jpeg" Id="R92559edbc4c64d84" /><Relationship Type="http://schemas.openxmlformats.org/officeDocument/2006/relationships/notesSlide" Target="/ppt/notesSlides/notesSlide21.xml" Id="Rf94bde8b59934a1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1e1fa2fd694a24" /><Relationship Type="http://schemas.openxmlformats.org/officeDocument/2006/relationships/image" Target="/ppt/media/image19.jpeg" Id="R3169096f0859414b" /><Relationship Type="http://schemas.openxmlformats.org/officeDocument/2006/relationships/notesSlide" Target="/ppt/notesSlides/notesSlide22.xml" Id="R8ad1ab5fa3f7420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2f0b78f3ea4e3b" /><Relationship Type="http://schemas.openxmlformats.org/officeDocument/2006/relationships/image" Target="/ppt/media/image20.jpeg" Id="R1bdeed078edd425e" /><Relationship Type="http://schemas.openxmlformats.org/officeDocument/2006/relationships/notesSlide" Target="/ppt/notesSlides/notesSlide23.xml" Id="R1efba2886a21420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833f0a930a4d61" /><Relationship Type="http://schemas.openxmlformats.org/officeDocument/2006/relationships/image" Target="/ppt/media/image21.jpeg" Id="Rdf00d3f970a643c3" /><Relationship Type="http://schemas.openxmlformats.org/officeDocument/2006/relationships/notesSlide" Target="/ppt/notesSlides/notesSlide24.xml" Id="R2f72950f302a4bd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3df44e31534f89" /><Relationship Type="http://schemas.openxmlformats.org/officeDocument/2006/relationships/image" Target="/ppt/media/image22.jpeg" Id="R9434560bfea64126" /><Relationship Type="http://schemas.openxmlformats.org/officeDocument/2006/relationships/notesSlide" Target="/ppt/notesSlides/notesSlide25.xml" Id="R32638e7ce2734f5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540d3ef47f439e" /><Relationship Type="http://schemas.openxmlformats.org/officeDocument/2006/relationships/image" Target="/ppt/media/image23.jpeg" Id="Rfeb55525f09c4f10" /><Relationship Type="http://schemas.openxmlformats.org/officeDocument/2006/relationships/notesSlide" Target="/ppt/notesSlides/notesSlide26.xml" Id="R723357825565401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42fe32130b4d7a" /><Relationship Type="http://schemas.openxmlformats.org/officeDocument/2006/relationships/image" Target="/ppt/media/image24.jpeg" Id="R0a53b0af31ce43c2" /><Relationship Type="http://schemas.openxmlformats.org/officeDocument/2006/relationships/notesSlide" Target="/ppt/notesSlides/notesSlide27.xml" Id="R1c7ebb3b2b864e0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4f9bdd0206440f" /><Relationship Type="http://schemas.openxmlformats.org/officeDocument/2006/relationships/image" Target="/ppt/media/image25.jpeg" Id="R5a51e1541e4c42ec" /><Relationship Type="http://schemas.openxmlformats.org/officeDocument/2006/relationships/notesSlide" Target="/ppt/notesSlides/notesSlide28.xml" Id="R70ed1630840944f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7f15101a17484c" /><Relationship Type="http://schemas.openxmlformats.org/officeDocument/2006/relationships/image" Target="/ppt/media/image26.jpeg" Id="R6e8fca6fd4924150" /><Relationship Type="http://schemas.openxmlformats.org/officeDocument/2006/relationships/notesSlide" Target="/ppt/notesSlides/notesSlide29.xml" Id="Re7b23087b9364d6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13c659710e4697" /><Relationship Type="http://schemas.openxmlformats.org/officeDocument/2006/relationships/image" Target="/ppt/media/image27.jpeg" Id="Rbc11f93da356404f" /><Relationship Type="http://schemas.openxmlformats.org/officeDocument/2006/relationships/notesSlide" Target="/ppt/notesSlides/notesSlide30.xml" Id="R1f51e666f20d49f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da746506f94b24" /><Relationship Type="http://schemas.openxmlformats.org/officeDocument/2006/relationships/image" Target="/ppt/media/image28.jpeg" Id="R271f69b32c1a409b" /><Relationship Type="http://schemas.openxmlformats.org/officeDocument/2006/relationships/notesSlide" Target="/ppt/notesSlides/notesSlide31.xml" Id="Rdb08310e8197446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5fdcf4ea854787" /><Relationship Type="http://schemas.openxmlformats.org/officeDocument/2006/relationships/image" Target="/ppt/media/image29.jpeg" Id="R00224563976241de" /><Relationship Type="http://schemas.openxmlformats.org/officeDocument/2006/relationships/notesSlide" Target="/ppt/notesSlides/notesSlide32.xml" Id="R7092529a93cd468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49f2a448bb41a6" /><Relationship Type="http://schemas.openxmlformats.org/officeDocument/2006/relationships/image" Target="/ppt/media/image30.jpeg" Id="R57d48ed7acc74cc5" /><Relationship Type="http://schemas.openxmlformats.org/officeDocument/2006/relationships/notesSlide" Target="/ppt/notesSlides/notesSlide33.xml" Id="Rad90fef2f88e499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e43383abde48fd" /><Relationship Type="http://schemas.openxmlformats.org/officeDocument/2006/relationships/image" Target="/ppt/media/image31.jpeg" Id="Rc07dfd15082246ce" /><Relationship Type="http://schemas.openxmlformats.org/officeDocument/2006/relationships/notesSlide" Target="/ppt/notesSlides/notesSlide34.xml" Id="Rfa9177fe1e5f42f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264ae5d5664614" /><Relationship Type="http://schemas.openxmlformats.org/officeDocument/2006/relationships/image" Target="/ppt/media/image32.jpeg" Id="R1a7842b91dcf4ad4" /><Relationship Type="http://schemas.openxmlformats.org/officeDocument/2006/relationships/notesSlide" Target="/ppt/notesSlides/notesSlide35.xml" Id="Rb785e442469e42d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c1ad9f6eec476d" /><Relationship Type="http://schemas.openxmlformats.org/officeDocument/2006/relationships/image" Target="/ppt/media/image33.jpeg" Id="Rfe465887c20e41be" /><Relationship Type="http://schemas.openxmlformats.org/officeDocument/2006/relationships/notesSlide" Target="/ppt/notesSlides/notesSlide36.xml" Id="Rf08e197e54b7489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57015e008f44dd" /><Relationship Type="http://schemas.openxmlformats.org/officeDocument/2006/relationships/image" Target="/ppt/media/image34.jpeg" Id="R9b2ddc68e3074cfd" /><Relationship Type="http://schemas.openxmlformats.org/officeDocument/2006/relationships/notesSlide" Target="/ppt/notesSlides/notesSlide37.xml" Id="Ra214e74bb1494e7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bd4a8b5c2540ea" /><Relationship Type="http://schemas.openxmlformats.org/officeDocument/2006/relationships/image" Target="/ppt/media/image35.jpeg" Id="R8dea9e7f51534de4" /><Relationship Type="http://schemas.openxmlformats.org/officeDocument/2006/relationships/notesSlide" Target="/ppt/notesSlides/notesSlide38.xml" Id="R5093fa8045b9472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8f27d60b054709" /><Relationship Type="http://schemas.openxmlformats.org/officeDocument/2006/relationships/image" Target="/ppt/media/image36.jpeg" Id="Raf2a534078674c9e" /><Relationship Type="http://schemas.openxmlformats.org/officeDocument/2006/relationships/notesSlide" Target="/ppt/notesSlides/notesSlide39.xml" Id="Rc27ba2b407324e0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62386d66ad45b6" /><Relationship Type="http://schemas.openxmlformats.org/officeDocument/2006/relationships/image" Target="/ppt/media/image37.jpeg" Id="Rd1fd078f73804293" /><Relationship Type="http://schemas.openxmlformats.org/officeDocument/2006/relationships/notesSlide" Target="/ppt/notesSlides/notesSlide40.xml" Id="R83af3645689648b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734d2cde8e454b" /><Relationship Type="http://schemas.openxmlformats.org/officeDocument/2006/relationships/notesSlide" Target="/ppt/notesSlides/notesSlide41.xml" Id="R6a2656bf408c41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7CBAC-C57B-4596-9A74-87346E20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14375"/>
            <a:ext cx="13716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IZZI KEBAB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Panduan untuk pemula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C69BD-97DD-4CCF-AEA2-322B3790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314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Ikuti gambar, penanda merah, dan kotak penjelasan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D199B-F93D-44DA-BC95-9E65E2E7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1323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DCE7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CE7F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CE7F1"/>
                </a:solidFill>
                <a:latin typeface="Arial"/>
                <a:ea typeface="Arial"/>
                <a:cs typeface="Arial"/>
              </a:rPr>
              <a:t>Dari menyiapkan bahan dan resep, menerima stok, melayani penjualan, sampai menutup laci.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81F59-5ABB-4FDF-83F9-0BE3FA84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314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Contoh diambil dari aplikasi latihan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7B7B6-A02A-431D-BF1E-CC21BFBC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323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DCE7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CE7F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CE7F1"/>
                </a:solidFill>
                <a:latin typeface="Arial"/>
                <a:ea typeface="Arial"/>
                <a:cs typeface="Arial"/>
              </a:rPr>
              <a:t>Nama, harga, stok, dan transaksi adalah data contoh. Gunakan akun, cabang, harga, dan hitungan fisik usaha Anda.</a:t>
            </a:r>
          </a:p>
        </p:txBody>
      </p:sp>
    </p:spTree>
    <p:extLst>
      <p:ext uri="{BB962C8B-B14F-4D97-AF65-F5344CB8AC3E}">
        <p14:creationId xmlns:p14="http://schemas.microsoft.com/office/powerpoint/2010/main" val="11044122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CBA58-8659-4F94-B79A-2747C70C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14375"/>
            <a:ext cx="13716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75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75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Kenali tugas setiap akun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E65F9-EE79-40D2-93B6-B0B3449D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14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 Izzi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5BBC2-81C1-4E4E-85F3-F9D3B3EB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323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Memilih produk master bersama, menyesuaikan kemasan dan resep, serta mencatat penerimaan. Admin juga memeriksa pembatalan dan riwayat.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E9FD9-E870-4014-BDE7-5C965424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1314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Kasir Izzi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6BBBE-8A16-484F-8FE1-4521AF14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323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Membuka laci, mencatat penjualan, menerima pembayaran, memeriksa transaksi, lalu menghitung uang dan menutup laci.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2467D-C985-4B20-AD3A-D7A26AA6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14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Owner dan petugas Gudang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38006-6708-46B6-89F6-280DF3B0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323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Owner memberi akses stock opname. Petugas Gudang yang berwenang mencatat mutasi dari stok Gudang.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5A95B-2D4A-4772-8454-8263AE8D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90A4D0-B133-45F2-9A8A-61E1B71F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9448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7ED59-D002-477B-A3E6-BDC3D422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14375"/>
            <a:ext cx="13716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75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75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Urutan kerja yang mudah diikuti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A3C34-5A5B-402A-B1AA-CA4D9EB3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14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Sebelum berjualan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2BD6D-513C-44D7-BF87-6E911056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323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Admin memilih produk master bersama, mengatur resep, lalu mencatat penerimaan atau mutasi masuk. Kasir memeriksa cabang dan membuka laci.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D6260-1FF1-4034-A5C1-AC2F9361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1314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Saat berjualan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38B34-8DF3-45BB-A39A-5B7CCF3F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323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Pilih menu → periksa jumlah → terima pembayaran → simpan → cek nomor transaksi. Resep memotong bahan otomatis.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515CB-5F17-4A17-BA97-9592BB9D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14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Setelah berjualan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BE499-F5E1-4662-A16F-F945CD95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323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Selesaikan pembatalan selagi laci aktif → hitung uang → tutup laci. Lakukan SO hanya dalam sesi yang diizinkan Owner.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3C0B5-2F49-4468-B71F-0BAAF7A7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A1D19-85E9-4746-93B7-2AC05734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905462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AC086F-4FAC-4990-9530-F19749D8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SEMUA PENGGUNA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3C81F-BD4C-4299-A4E9-7AF9CAE5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Masuk dengan akun Anda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DD3F1-ADC8-4649-830E-9561ED1F23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41ccd943c45ea"/>
          <a:stretch xmlns:a="http://schemas.openxmlformats.org/drawingml/2006/main"/>
        </p:blipFill>
        <p:spPr>
          <a:xfrm xmlns:a="http://schemas.openxmlformats.org/drawingml/2006/main">
            <a:off x="381000" y="1657350"/>
            <a:ext cx="10477500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email">
            <a:extLst xmlns:a="http://schemas.openxmlformats.org/drawingml/2006/main">
              <a:ext uri="{FF2B5EF4-FFF2-40B4-BE49-F238E27FC236}">
                <a16:creationId xmlns:a16="http://schemas.microsoft.com/office/drawing/2014/main" id="{EBCD7600-BE9B-4AC6-890A-C521994A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574" y="4012704"/>
            <a:ext cx="3206353" cy="449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BE4D70FD-A418-4274-9641-AF55E9F1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8A7BE-2A59-4D5C-BB6D-E4E4FF9DE60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7222927" y="3095625"/>
            <a:ext cx="4159448" cy="114181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1F18C-C7C1-4833-8C1D-DA631449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Isi email akun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5A2B7F-5546-4205-A881-D582C915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Gunakan email yang diberikan pengelola. Akun admin dan kasir memiliki menu yang berbeda.</a:t>
            </a:r>
          </a:p>
        </p:txBody>
      </p:sp>
      <p:sp>
        <p:nvSpPr>
          <p:cNvPr id="9" name="Sorotan password">
            <a:extLst xmlns:a="http://schemas.openxmlformats.org/drawingml/2006/main">
              <a:ext uri="{FF2B5EF4-FFF2-40B4-BE49-F238E27FC236}">
                <a16:creationId xmlns:a16="http://schemas.microsoft.com/office/drawing/2014/main" id="{4EE731C3-98BC-4BFF-AD7F-F821AF8E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574" y="4762500"/>
            <a:ext cx="3206353" cy="449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0D801650-6551-46BF-A3AD-91363B79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60941-CD30-4956-B736-4D96B6E21E94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222927" y="4987231"/>
            <a:ext cx="4159448" cy="106114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55385-8A68-4F4D-9F7B-09C0BCDA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Isi kata sandi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8049A9-E14F-47DB-948E-9BBAB9EC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Masukkan kata sandi, lalu tekan Masuk. Jika gagal, periksa penulisan email dan kata sandi.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04AB8A-58D8-415E-AD99-8EC9777A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Gunakan alamat sistem Anda. Alamat localhost pada gambar hanya untuk aplikasi latihan.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99D1D1-4F2C-4002-A74F-E8471E2C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75B8EC-3A47-4FB8-8FFE-AF29A5E6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71996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59EC75-B365-46D3-B4AC-FBD24914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779194-BBA8-4355-B548-FCF99DC5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Kenali cabang dan menu utama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42981-A2E9-40ED-9C6C-20AF52BECD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b8e97bb8c4b27"/>
          <a:stretch xmlns:a="http://schemas.openxmlformats.org/drawingml/2006/main"/>
        </p:blipFill>
        <p:spPr>
          <a:xfrm xmlns:a="http://schemas.openxmlformats.org/drawingml/2006/main">
            <a:off x="381000" y="1657350"/>
            <a:ext cx="10477500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branch">
            <a:extLst xmlns:a="http://schemas.openxmlformats.org/drawingml/2006/main">
              <a:ext uri="{FF2B5EF4-FFF2-40B4-BE49-F238E27FC236}">
                <a16:creationId xmlns:a16="http://schemas.microsoft.com/office/drawing/2014/main" id="{867A2846-2CA9-4EEB-9B7E-A2F40404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162" y="2837259"/>
            <a:ext cx="7786985" cy="338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1267832E-37D2-45B6-87A3-3BFEB424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55A7F-7B63-4E3C-AE1A-BB6D8C3D770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0700147" y="3006276"/>
            <a:ext cx="682228" cy="8934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EF763-D6F9-4109-B5F0-1A207F59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Periksa cabang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A4C6A-6112-4B38-8491-CA39563F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Pastikan nama cabang sesuai tempat Anda bekerja sebelum mencatat stok atau transaksi.</a:t>
            </a:r>
          </a:p>
        </p:txBody>
      </p:sp>
      <p:sp>
        <p:nvSpPr>
          <p:cNvPr id="9" name="Sorotan ingredients">
            <a:extLst xmlns:a="http://schemas.openxmlformats.org/drawingml/2006/main">
              <a:ext uri="{FF2B5EF4-FFF2-40B4-BE49-F238E27FC236}">
                <a16:creationId xmlns:a16="http://schemas.microsoft.com/office/drawing/2014/main" id="{EE0C25C2-B990-48F7-A758-FFE6F59F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447" y="3433065"/>
            <a:ext cx="453861" cy="272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43B38ABB-6C59-4A47-A4DE-FD47B608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8C193-7663-4646-A789-7B002E843951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982308" y="3569392"/>
            <a:ext cx="2400067" cy="247898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FD4C3-912C-4F51-9497-92A3CD98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Produk dari master bersama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64B8AB-934B-46D0-B37B-40643D37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Bahan Izzi menggunakan produk yang sudah ada di master Gudang. Admin dapat menyesuaikan kemasan dan resep.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148F66-412C-400B-AA7D-48D1B5FF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Pilih produk master yang benar, atur takaran resep, lalu catat stok yang benar-benar diterima.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7A8B2-85E0-4B00-9B82-221DBD0D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494B38-9926-4CFF-9509-9AB5D380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579272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0DCB10-1D3C-4324-89AA-439B36A6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AEC6A-62E4-479F-A863-66504737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Penyesuaian bahan dari master bersama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62C10-0DEE-441F-A18A-979BCE17FE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c257f24194200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add">
            <a:extLst xmlns:a="http://schemas.openxmlformats.org/drawingml/2006/main">
              <a:ext uri="{FF2B5EF4-FFF2-40B4-BE49-F238E27FC236}">
                <a16:creationId xmlns:a16="http://schemas.microsoft.com/office/drawing/2014/main" id="{204D4D98-F573-4EDA-ABE1-D7D77AC7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7309" y="4546299"/>
            <a:ext cx="1208159" cy="665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0D749BFB-BAF1-454B-BC7C-8BAA6577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A256A-0F5F-46A0-B571-D456DFF04ED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405468" y="3095625"/>
            <a:ext cx="976907" cy="178345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F9F33-424B-4249-8B54-01A1FB1A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Sesuaikan produk yang 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D8582-864B-40DD-9E92-2C661CC5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Tekan Sesuaikan kemasan pada produk yang dipakai Izzi. Nama, kode, dan satuannya mengikuti master.</a:t>
            </a:r>
          </a:p>
        </p:txBody>
      </p:sp>
      <p:sp>
        <p:nvSpPr>
          <p:cNvPr id="9" name="Sorotan search">
            <a:extLst xmlns:a="http://schemas.openxmlformats.org/drawingml/2006/main">
              <a:ext uri="{FF2B5EF4-FFF2-40B4-BE49-F238E27FC236}">
                <a16:creationId xmlns:a16="http://schemas.microsoft.com/office/drawing/2014/main" id="{E302C343-CE2F-44E9-A27F-115B5670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3989682"/>
            <a:ext cx="6054310" cy="403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070C87DC-A9A9-4460-AB3A-03476F15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115F5-42EB-48F9-9EB4-32B8759829B9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137731" y="4191493"/>
            <a:ext cx="2244644" cy="1856882"/>
          </a:xfrm>
          <a:prstGeom xmlns:a="http://schemas.openxmlformats.org/drawingml/2006/main" prst="bentConnector3">
            <a:avLst>
              <a:gd name="adj1" fmla="val 89816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4114DF-C067-4067-BECB-06CC897B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Cari nama atau kode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BBC229-0B72-4982-A7D0-2571C36A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Gunakan pencarian di seluruh master. Cocokkan kode dengan barang yang diterima dari Gudang.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7E1BD5-5D88-42B8-AA44-CA934CED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Izzi memakai master bersama dengan Gudang, Jihans, dan Hendhys. Tidak perlu membuat bahan Izzi baru.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3EF6F-5143-4877-BA70-B830BE0F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445555-3CDA-40DA-97FA-D9CF7A88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69832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4D8C9B-C929-4C18-8375-382D1F50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F110A-B755-419A-B0CD-13D5B16C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Satuan master dan isi kemasan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91335-96FB-4F87-9CF3-F65A496A19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891d3494d4c2c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base">
            <a:extLst xmlns:a="http://schemas.openxmlformats.org/drawingml/2006/main">
              <a:ext uri="{FF2B5EF4-FFF2-40B4-BE49-F238E27FC236}">
                <a16:creationId xmlns:a16="http://schemas.microsoft.com/office/drawing/2014/main" id="{3DB4CFEE-3AE2-4D96-8EF7-BC5704BB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390" y="4644526"/>
            <a:ext cx="7060109" cy="272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D69870DE-91CB-4548-AEFB-E36F4CF3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82CD3-77D1-4078-851D-EE90CB268C3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274499" y="3095625"/>
            <a:ext cx="1107876" cy="168522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BB839-7542-4C18-8D4D-67B1C5B3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Satuan mengikuti master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1280A-5E13-43B0-AEE3-B7D9E3E4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Satuan master tampil sebagai informasi tetap. Stok dan takaran resep memakai satuan tersebut.</a:t>
            </a:r>
          </a:p>
        </p:txBody>
      </p:sp>
      <p:sp>
        <p:nvSpPr>
          <p:cNvPr id="9" name="Sorotan factor">
            <a:extLst xmlns:a="http://schemas.openxmlformats.org/drawingml/2006/main">
              <a:ext uri="{FF2B5EF4-FFF2-40B4-BE49-F238E27FC236}">
                <a16:creationId xmlns:a16="http://schemas.microsoft.com/office/drawing/2014/main" id="{F99B7BF6-6484-4A2D-9189-FF2C17C2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829" y="5528565"/>
            <a:ext cx="3633639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7228BD16-A943-4D9D-BC5F-9A67F5EF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31A99-0D39-41F8-8148-240E24C95459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405468" y="5769667"/>
            <a:ext cx="976907" cy="27870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B54C68-973F-4B78-B2EF-86167B95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Isi ditentukan pengguna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97653-E15B-4369-9BEF-F4ACE331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Tulis isi satu kemasan dalam satuan master. Gunakan isi kemasan yang benar-benar diterima.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CEAF81-63B1-421A-9F87-7B4DB661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Pengaturan kemasan bersifat pilihan. Penerimaan dan mutasi tetap dapat memakai satuan master langsung.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A9CF3E-858B-474D-BF74-9A36FCA7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AF4DC9-1482-4D1F-A453-9488BA3A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603631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8343C-DBDF-4A89-AD3B-DA1E054C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02612-E6F1-4243-A6B8-4DFE7B55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Simpan penyesuaian kemasan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15CAA-C92D-430F-8350-91027AA7B1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016b0995e4839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save">
            <a:extLst xmlns:a="http://schemas.openxmlformats.org/drawingml/2006/main">
              <a:ext uri="{FF2B5EF4-FFF2-40B4-BE49-F238E27FC236}">
                <a16:creationId xmlns:a16="http://schemas.microsoft.com/office/drawing/2014/main" id="{BFB58738-107E-46E4-87D7-64BECFC4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6851349"/>
            <a:ext cx="1598405" cy="469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FC5ACF4B-50D1-402E-AEF2-98BEE844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0003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E81D4-870A-49C0-879D-F614C6E88B2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4681826" y="4333875"/>
            <a:ext cx="6700549" cy="275202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B2EAF-7E81-4305-B7EB-B6E69936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1908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Periksa lalu simpan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A0D86-3C27-4FB9-886A-A971ECB5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8576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Contoh latihan: 1 Karung latihan = 7,5 KG. Ganti nama dan isinya sesuai kemasan usaha Anda.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D8267-0BB6-4953-8F30-B641583B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Penyesuaian hanya mengatur kemasan penerimaan langsung dari pemasok. Jumlah stok dan satuan master tetap.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C2D1BE-2766-4CF9-8940-24E8AB9E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1505C-EB5B-43E5-A938-4952949C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957689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C9B437-5EE3-4785-B508-948101B4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3D2D8-D4F3-45DA-A6A2-CD9E4044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Buka Menu, Harga &amp; Gramasi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2300C-4DE4-4360-A2FE-9E5656B57D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9293e97b2e494c"/>
          <a:stretch xmlns:a="http://schemas.openxmlformats.org/drawingml/2006/main"/>
        </p:blipFill>
        <p:spPr>
          <a:xfrm xmlns:a="http://schemas.openxmlformats.org/drawingml/2006/main">
            <a:off x="381000" y="1657350"/>
            <a:ext cx="10477500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add">
            <a:extLst xmlns:a="http://schemas.openxmlformats.org/drawingml/2006/main">
              <a:ext uri="{FF2B5EF4-FFF2-40B4-BE49-F238E27FC236}">
                <a16:creationId xmlns:a16="http://schemas.microsoft.com/office/drawing/2014/main" id="{B3814F95-40AC-45E5-9936-68856E1A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0603" y="2837259"/>
            <a:ext cx="1229544" cy="469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48E9287B-9416-4F84-84C3-D0D00223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E8D61-ACFA-4F4F-8CEA-28474597637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0700147" y="3071812"/>
            <a:ext cx="682228" cy="23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F037A-CB61-49B2-A967-1B5DD221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Buat menu baru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FF131-7462-4648-91B1-F265EA27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Pilih Tambah menu untuk menu jual yang belum tersedia, misalnya Kebab Original.</a:t>
            </a:r>
          </a:p>
        </p:txBody>
      </p:sp>
      <p:sp>
        <p:nvSpPr>
          <p:cNvPr id="9" name="Sorotan edit">
            <a:extLst xmlns:a="http://schemas.openxmlformats.org/drawingml/2006/main">
              <a:ext uri="{FF2B5EF4-FFF2-40B4-BE49-F238E27FC236}">
                <a16:creationId xmlns:a16="http://schemas.microsoft.com/office/drawing/2014/main" id="{0E2FC162-5914-453B-8266-F357CB41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170" y="5600700"/>
            <a:ext cx="1113718" cy="665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A909A327-54A9-49D9-AF5D-9CFB7AB9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8273E3-C208-4F7A-B97F-AD75012D62DE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529888" y="5933480"/>
            <a:ext cx="852487" cy="11489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E3EEA-A3E9-40A4-97D1-BB5DCD4E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Perbaiki menu yang 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44961-D361-43A0-A939-C45C66EC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Gunakan Edit menu &amp; resep untuk menyesuaikan harga atau takaran bahan menu tersebut.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C94AC-D154-48A6-9FA1-AA0DAFA4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Menu adalah barang yang dijual ke pelanggan. Gramasi berarti takaran bahan untuk membuat satu menu.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CDF8AA-4BE1-4313-85C6-D178C1FA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74487-2B4B-48C7-A6EA-578E4015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142200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5C4C3D-48DF-4D98-BA56-8B89D283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874C7-D533-4136-8134-415542F9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Isi nama menu dan harga jual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8C721-4197-47A3-BB6F-CF8C61CD34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a640ecd42f4ebc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name">
            <a:extLst xmlns:a="http://schemas.openxmlformats.org/drawingml/2006/main">
              <a:ext uri="{FF2B5EF4-FFF2-40B4-BE49-F238E27FC236}">
                <a16:creationId xmlns:a16="http://schemas.microsoft.com/office/drawing/2014/main" id="{6D00DAC1-8904-4869-94D0-3470F098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829" y="3825971"/>
            <a:ext cx="3507581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792D6193-97A3-4F04-9A70-FC0FB294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6DAC3-BF21-486E-A815-F138A4838A7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279410" y="3095625"/>
            <a:ext cx="1102965" cy="97144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C5A20-F513-4ACF-B55E-7A635B75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Nama yang dibaca kasir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8117D-30B6-46DF-8172-E80F5057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Gunakan nama yang jelas. Lengkapi kode unik dan kelompok menu agar pencarian lebih mudah.</a:t>
            </a:r>
          </a:p>
        </p:txBody>
      </p:sp>
      <p:sp>
        <p:nvSpPr>
          <p:cNvPr id="9" name="Sorotan price">
            <a:extLst xmlns:a="http://schemas.openxmlformats.org/drawingml/2006/main">
              <a:ext uri="{FF2B5EF4-FFF2-40B4-BE49-F238E27FC236}">
                <a16:creationId xmlns:a16="http://schemas.microsoft.com/office/drawing/2014/main" id="{04CB1FEC-D367-40C6-8AF8-8340EA45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829" y="4559396"/>
            <a:ext cx="3507581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D0BB15E0-675F-4A17-A41D-B8D5DBA8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07F5C-8EA7-48DC-B0ED-B0F75FD695AE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279410" y="4800498"/>
            <a:ext cx="1102965" cy="124787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737D4-1459-4EAA-A7C8-D5C49175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Harga satu menu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D402D-E3D0-46ED-B547-E16986CE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Ketik harga dalam angka rupiah. Contoh: 15000 berarti Rp15.000 untuk satu Kebab Original.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77F339-089E-4A40-8FF7-F835659E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Harga pada contoh adalah data latihan. Gunakan harga yang ditetapkan usaha Anda.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6E6BF-0FB5-440E-A7EB-EA1883E0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BC43CA-CC50-42D6-B96D-33CC6FC5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271920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694C5A-320D-4C54-9F22-25FCA2E5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31C0C-1EE2-4EBB-9461-AD94E053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Isi resep untuk satu menu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FD137-8984-42B3-B6C2-4AC0E36C44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510a9525f046ff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meat">
            <a:extLst xmlns:a="http://schemas.openxmlformats.org/drawingml/2006/main">
              <a:ext uri="{FF2B5EF4-FFF2-40B4-BE49-F238E27FC236}">
                <a16:creationId xmlns:a16="http://schemas.microsoft.com/office/drawing/2014/main" id="{5F290E37-AB45-490F-8C8C-8C09ED8C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996" y="4405406"/>
            <a:ext cx="6794897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76383AAE-7D3E-4E42-BDDE-03C54C6D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D3F3B-0FC1-440E-B13E-7F393614F33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141893" y="3095625"/>
            <a:ext cx="1240482" cy="15508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FDF49-B60B-4B55-92D9-71263CF6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Baca satuan sebelum mengisi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7C5E8-47B2-41B3-8B69-79C52AEB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Contoh pada master gram: isi 40 untuk 40 gram. Jika master KG, jumlah yang sama ditulis 0,04.</a:t>
            </a:r>
          </a:p>
        </p:txBody>
      </p:sp>
      <p:sp>
        <p:nvSpPr>
          <p:cNvPr id="9" name="Sorotan tortilla">
            <a:extLst xmlns:a="http://schemas.openxmlformats.org/drawingml/2006/main">
              <a:ext uri="{FF2B5EF4-FFF2-40B4-BE49-F238E27FC236}">
                <a16:creationId xmlns:a16="http://schemas.microsoft.com/office/drawing/2014/main" id="{E16E887C-C4E8-4955-BD54-6A9EE4EE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996" y="6314275"/>
            <a:ext cx="6794897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7DE6871B-C1AC-447C-8EA6-AC7A9716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16486E-A6EA-4233-8A61-03C2E4ACDCC3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10141893" y="6048375"/>
            <a:ext cx="1240482" cy="50700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EC9C8-1F19-42A2-8A03-B50081A4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Takaran tortilla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D9661-33BA-492B-8499-279CEA25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Contoh: satu menu memakai 1 pcs tortilla. Isi takaran sesuai satuan bahan, bukan jumlah kemasan.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752EE-CA6C-4D2D-A16F-C27A8B98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Takaran dan isi PACK ditentukan pengguna. Semua angka di panduan adalah contoh, bukan aturan baku.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46564F-950B-41E8-8028-71E7A5E0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0CEE47-1888-4D4A-A120-C543A425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728456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AD77D4-E17F-49FE-9E82-670E9145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6C97A-8C77-45FC-B14D-358A3FA1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Lengkapi semua bahan dalam resep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86BA6-D040-4167-88A4-8A563898E1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71dae16c547fe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add">
            <a:extLst xmlns:a="http://schemas.openxmlformats.org/drawingml/2006/main">
              <a:ext uri="{FF2B5EF4-FFF2-40B4-BE49-F238E27FC236}">
                <a16:creationId xmlns:a16="http://schemas.microsoft.com/office/drawing/2014/main" id="{563FE203-676A-4EF1-81E9-00E52A13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479" y="4808135"/>
            <a:ext cx="1399189" cy="272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3282269A-C071-4E6E-BE6E-EED2BC70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12F19-2A5B-41E8-9249-A737368A9C3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4608668" y="3095625"/>
            <a:ext cx="6773707" cy="184883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91C0A7-867D-4034-B096-708798B1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Tambahkan bahan lain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E992F-12BF-485D-B15E-F34E3BA3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Masukkan saus, sayuran, dan seluruh bahan yang memang dipakai. Setiap bahan cukup satu baris.</a:t>
            </a:r>
          </a:p>
        </p:txBody>
      </p:sp>
      <p:sp>
        <p:nvSpPr>
          <p:cNvPr id="9" name="Sorotan save">
            <a:extLst xmlns:a="http://schemas.openxmlformats.org/drawingml/2006/main">
              <a:ext uri="{FF2B5EF4-FFF2-40B4-BE49-F238E27FC236}">
                <a16:creationId xmlns:a16="http://schemas.microsoft.com/office/drawing/2014/main" id="{B70FA4C5-F702-4982-A863-8F2EE0F1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479" y="5757658"/>
            <a:ext cx="1649565" cy="469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D49434F9-C9F3-4377-8F53-99A82043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C89DB-8A94-41CA-BE5C-37EE0F12BE23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859044" y="5992211"/>
            <a:ext cx="6523331" cy="5616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34C9B-DE8F-4AF8-8583-37A7AAA6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Simpan menu &amp; resep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EBE4AD-0496-44E9-BF76-2FD1FFB3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Aktifkan menu jika sudah siap dijual. Setelah disimpan, kasir dapat memakai menu sesuai stok bahan.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AD5C08-715F-45F0-9034-2F05D58E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Perubahan resep berlaku untuk transaksi berikutnya. Rincian resep transaksi lama tetap tersimpan.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3163D-EEE0-44BF-9509-14C39404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664FD3-FE26-4E50-B37C-A963F423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4396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C37FA-6797-4961-95E9-A6FB19F4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7B143-0830-4BD9-A952-5FAD335B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Catat bahan yang sudah diterima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7A393-125D-4C29-B50C-063176ED8C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b94db0d8b74daf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origin">
            <a:extLst xmlns:a="http://schemas.openxmlformats.org/drawingml/2006/main">
              <a:ext uri="{FF2B5EF4-FFF2-40B4-BE49-F238E27FC236}">
                <a16:creationId xmlns:a16="http://schemas.microsoft.com/office/drawing/2014/main" id="{09C0CEF2-060E-417D-AE59-B3FF7178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6176860"/>
            <a:ext cx="7322046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F0EC4479-73C6-4296-A83B-7B3081DE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85B92-91D4-4507-9678-EBF8CED5DC6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405467" y="3095625"/>
            <a:ext cx="976908" cy="332233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4FFFA-9F56-427A-A1BC-5618A1E2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Tulis asal barang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02D2A-2D87-422E-9BDA-5A715EB1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Isi nama pemasok atau keterangan dokumen. Lengkapi nomor bukti jika ada dan catatan kondisi barang.</a:t>
            </a:r>
          </a:p>
        </p:txBody>
      </p:sp>
      <p:sp>
        <p:nvSpPr>
          <p:cNvPr id="9" name="Sorotan time">
            <a:extLst xmlns:a="http://schemas.openxmlformats.org/drawingml/2006/main">
              <a:ext uri="{FF2B5EF4-FFF2-40B4-BE49-F238E27FC236}">
                <a16:creationId xmlns:a16="http://schemas.microsoft.com/office/drawing/2014/main" id="{F65B2FC5-28D9-4137-A115-EFF2B479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829" y="5443435"/>
            <a:ext cx="3633639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1B17FE4E-A818-4A7D-9021-BF2EBEFD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91F49-399A-4F69-A9EC-BECB2DC5191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405468" y="5684537"/>
            <a:ext cx="976907" cy="363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6725CA-942B-4249-A6F6-9CA35ED9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Periksa tanggal dan jam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EC70A6-22CB-4464-A19C-65ADF4E2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Tanggal dan jam menunjukkan kapan barang diterima. Jam pada sistem memakai WIB.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E70D1-521D-4226-BEE5-445CC161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Terima Bahan menambah stok Izzi saja. Untuk perpindahan dari stok Gudang/cabang lain, gunakan Mutasi Stok.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6D0505-49D9-4E46-A621-BA097532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E105F0-699D-4C38-BC91-CE21FD54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397964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18B23E-6DCD-4D5F-A0B4-DECC1BC2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AB27C-641A-4DD4-9CEB-A58CA6CB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Pilih bahan, satuan input, dan jumlah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AD77E-E9FE-42C1-8BAF-5B35401A15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24f6508bc41d9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unit">
            <a:extLst xmlns:a="http://schemas.openxmlformats.org/drawingml/2006/main">
              <a:ext uri="{FF2B5EF4-FFF2-40B4-BE49-F238E27FC236}">
                <a16:creationId xmlns:a16="http://schemas.microsoft.com/office/drawing/2014/main" id="{9B38E89C-9727-444D-B747-DA1D5891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938" y="5492446"/>
            <a:ext cx="3512493" cy="462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1D7064C5-E6A4-4EF1-A71B-F892FDD0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60C5B-4CA1-4081-83CE-ED15812EC1A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6733431" y="3095625"/>
            <a:ext cx="4648944" cy="2628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62CBB9-C92D-4BB7-9751-5A6A7309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Pilih cara menghitung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D6A40-B1E4-4857-9C37-918D93DA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Pilih kemasan jika menghitung kemasan utuh. Pilih satuan dasar jika barang ditimbang langsung dalam gram.</a:t>
            </a:r>
          </a:p>
        </p:txBody>
      </p:sp>
      <p:sp>
        <p:nvSpPr>
          <p:cNvPr id="9" name="Sorotan quantity">
            <a:extLst xmlns:a="http://schemas.openxmlformats.org/drawingml/2006/main">
              <a:ext uri="{FF2B5EF4-FFF2-40B4-BE49-F238E27FC236}">
                <a16:creationId xmlns:a16="http://schemas.microsoft.com/office/drawing/2014/main" id="{EA8FF9E7-597D-4F90-867B-9DAA4350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5458" y="5492446"/>
            <a:ext cx="3512493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90CDA5DC-9FA6-4BEE-9FAF-39BF4149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A42885-F894-47A0-9D9C-4EB8BA6A60FA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267951" y="5733548"/>
            <a:ext cx="1114424" cy="31482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C7619-93B8-4A4D-B578-AD1A948A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Isi jumlah yang diterima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408FB2-CA3F-4987-B505-1138614C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Contoh: 1 kemasan 2 kg menambah 2000 gram. Periksa hasil konversi yang tampil di bawah kolom.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17D4E-CA8F-4413-A0DF-48008133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Jangan mengisi 2000 saat satuan input masih kemasan 2 kg. Angka tersebut berarti 2000 kemasan.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495F0-BADE-4D62-A790-1531EEB0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AAF3A-BF9E-4747-A6BA-4BB2AA04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012219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1977A-3000-4AA7-A21F-5DA2F397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F19D0-F8C0-4CE3-9061-1EB3DFA6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Simpan satu kali untuk satu penerimaan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6AF49-4E7B-4FFD-A3BC-7357445B5E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a6ff70e04b4174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save">
            <a:extLst xmlns:a="http://schemas.openxmlformats.org/drawingml/2006/main">
              <a:ext uri="{FF2B5EF4-FFF2-40B4-BE49-F238E27FC236}">
                <a16:creationId xmlns:a16="http://schemas.microsoft.com/office/drawing/2014/main" id="{198E9C58-D41A-426A-8E9F-A98E9675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6756295"/>
            <a:ext cx="2438651" cy="469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C969A5AE-DEF0-4EFD-8EB5-73F917C3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0003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8DB785-CD55-4A30-9903-089F358371B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5522072" y="4333875"/>
            <a:ext cx="5860303" cy="265697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C61E8-7775-42E3-85A5-10B33B96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1908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Tambah stok penerimaan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4038B-C289-4264-90F2-D99E0899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8576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Tekan setelah barang dan jumlahnya diperiksa. Tunggu bukti penerimaan muncul sebelum membuat catatan berikutnya.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7A701-9500-4FD4-A4D4-4D264726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Jangan mencatat barang yang sama lagi melalui Terima Bahan jika sudah masuk lewat mutasi.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4BF50-0D2A-4F54-A23C-3A58A258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88C99-5F10-4711-9816-056A3F26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138761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0397F5-B909-4AB6-AACF-A6EC916B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16966-5C90-421A-BBCF-53EE2723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Periksa bukti dan perubahan saldo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8DA27-DF1C-4273-BB36-3297C68977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a4fa27a064aac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document">
            <a:extLst xmlns:a="http://schemas.openxmlformats.org/drawingml/2006/main">
              <a:ext uri="{FF2B5EF4-FFF2-40B4-BE49-F238E27FC236}">
                <a16:creationId xmlns:a16="http://schemas.microsoft.com/office/drawing/2014/main" id="{85984D48-5F29-4C44-BC3D-2787C84A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938" y="4971948"/>
            <a:ext cx="1843664" cy="239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443CE62B-6562-4F43-8218-A6485478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0003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60571-6B17-4AED-B64C-1C3AAAB9355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5064602" y="4333875"/>
            <a:ext cx="6317773" cy="75802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E415F-9F5B-41C9-AA7D-3C2C3EAF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1908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Nomor penerimaan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27221-32C2-4406-9851-8420C847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8576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Nomor IZ-TERIMA menjadi rujukan catatan. Cocokkan asal, waktu, jumlah, dan saldo sebelum/sesudah.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7293C-1398-466A-BC2F-AD59B6DC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Contoh: saldo daging 4000 gram ditambah 2000 gram menjadi 6000 gram.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A89D8-F02E-4D43-B81F-C9F2BB73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55EDB-8E19-48A8-BE49-FFD4D644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490559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80672D-5B16-4BF3-B994-0FDDDC2B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 DAN 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A8AAE-99F3-48CA-9593-8F2D9909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Lihat stok bahan cabang aktif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22EEC-FB97-4ACF-ACF4-2095907897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29ab1d45644b7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stock">
            <a:extLst xmlns:a="http://schemas.openxmlformats.org/drawingml/2006/main">
              <a:ext uri="{FF2B5EF4-FFF2-40B4-BE49-F238E27FC236}">
                <a16:creationId xmlns:a16="http://schemas.microsoft.com/office/drawing/2014/main" id="{F90B17FC-7EB7-4FD9-9677-639D401C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938" y="5744663"/>
            <a:ext cx="2129135" cy="338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64AE2338-BAEB-4FDD-B798-DD9EDA7C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8A30D-3F4B-4669-AE45-279E48F2EE9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5350073" y="3095625"/>
            <a:ext cx="6032302" cy="2818056"/>
          </a:xfrm>
          <a:prstGeom xmlns:a="http://schemas.openxmlformats.org/drawingml/2006/main" prst="bentConnector3">
            <a:avLst>
              <a:gd name="adj1" fmla="val 9621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7FD68-A353-4C37-8FD9-C1A9499D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Baca saldo dan satuan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FC639-C418-4593-887A-587F426B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Angka stok memakai satuan dasar bahan. Pada contoh, daging tersedia 6000 gram.</a:t>
            </a:r>
          </a:p>
        </p:txBody>
      </p:sp>
      <p:sp>
        <p:nvSpPr>
          <p:cNvPr id="9" name="Sorotan search">
            <a:extLst xmlns:a="http://schemas.openxmlformats.org/drawingml/2006/main">
              <a:ext uri="{FF2B5EF4-FFF2-40B4-BE49-F238E27FC236}">
                <a16:creationId xmlns:a16="http://schemas.microsoft.com/office/drawing/2014/main" id="{0F135B90-4EF7-4F8F-9925-05A5B990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4690365"/>
            <a:ext cx="6054310" cy="403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21C09699-428B-41C4-A1DD-8D4DD8A4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72BCC-A67C-47F6-9048-8BFC796FF752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137731" y="4892176"/>
            <a:ext cx="2244644" cy="115619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B3A7D7-3098-4059-8B9B-86028568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Cari bahan tertentu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9F7993-387C-418B-8418-0D40E6B3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Cari nama atau kode untuk mempercepat pemeriksaan. Periksa cabang sebelum membandingkan stok fisik.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A7860-82FC-4EB3-8EA6-413F1DCB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Stok per cabang dapat berbeda. Perkiraan jumlah menu tersedia dihitung dari bahan dalam resep.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892271-E0A3-4AC5-BAED-88A206C1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209252-3808-4D00-A154-33C12C2E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8203267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F8B086-64DA-47D2-9EE0-0E5FF29C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BE69D-EDD3-4340-9778-E94604D6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Buka laci sebelum mulai menjual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FC0B0-6C81-486A-9481-0245B717F2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399f722c646a2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cash">
            <a:extLst xmlns:a="http://schemas.openxmlformats.org/drawingml/2006/main">
              <a:ext uri="{FF2B5EF4-FFF2-40B4-BE49-F238E27FC236}">
                <a16:creationId xmlns:a16="http://schemas.microsoft.com/office/drawing/2014/main" id="{6DDBD2DF-9FA2-4E31-A62A-56549CD3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4402336"/>
            <a:ext cx="7322046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16667460-F760-44CD-A898-7D846E8C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9BF9E-9176-4A87-AF63-0D608DAFB46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405467" y="3095625"/>
            <a:ext cx="976908" cy="1547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FD766-EEE0-4AAF-BCAC-D4184016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Masukkan modal awal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06D55-345D-41DB-BB8F-79C379A9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Isi uang tunai yang benar-benar ada pada awal shift. Contoh: 100000 berarti Rp100.000.</a:t>
            </a:r>
          </a:p>
        </p:txBody>
      </p:sp>
      <p:sp>
        <p:nvSpPr>
          <p:cNvPr id="9" name="Sorotan open">
            <a:extLst xmlns:a="http://schemas.openxmlformats.org/drawingml/2006/main">
              <a:ext uri="{FF2B5EF4-FFF2-40B4-BE49-F238E27FC236}">
                <a16:creationId xmlns:a16="http://schemas.microsoft.com/office/drawing/2014/main" id="{182E1902-2858-4787-82CE-69BF7AF9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4939308"/>
            <a:ext cx="916651" cy="469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616302E8-83CC-4B62-95AA-C39F0A8E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735E5-FF35-474E-B8A1-E4D9F365C7C2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000072" y="5173861"/>
            <a:ext cx="7382303" cy="87451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8EF2BD-DFE9-4016-8730-033C61C3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Tekan Buka laci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50ACE0-C831-40F7-A6AE-D0F43B30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Setelah laci aktif, lanjutkan ke kasir. Selesaikan laci yang masih aktif sebelum membuka laci baru.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77948-B1B1-4149-A95A-E3926B26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Modal awal adalah uang awal laci, bukan omzet dan bukan saldo bahan.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3FE983-33FF-469D-8D91-A7654012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B2B899-79B7-45A3-B6C3-BE5C9F4D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105230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E7DE2C-17AD-4AE4-9540-7523F550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59189-FB59-4E42-BBC7-56754C36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Pilih menu pesanan pelanggan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9B6CB-5B55-423E-A68F-51D1D64116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acd9a64884d45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search">
            <a:extLst xmlns:a="http://schemas.openxmlformats.org/drawingml/2006/main">
              <a:ext uri="{FF2B5EF4-FFF2-40B4-BE49-F238E27FC236}">
                <a16:creationId xmlns:a16="http://schemas.microsoft.com/office/drawing/2014/main" id="{014CB30F-8B49-42E6-844C-89090BCE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4821436"/>
            <a:ext cx="3447008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92210D09-0DC9-44CB-AD4A-34D71516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A2827-BB22-4176-B225-D0CD6915B88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6530429" y="3095625"/>
            <a:ext cx="4851946" cy="19669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662BD-E47A-4709-9C7C-8DC49B34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Cari nama atau kode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03400-559E-4A27-A153-2D0F8FD2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Gunakan pencarian jika menu belum terlihat. Pilihan halaman berikutnya tersedia di bagian bawah katalog.</a:t>
            </a:r>
          </a:p>
        </p:txBody>
      </p:sp>
      <p:sp>
        <p:nvSpPr>
          <p:cNvPr id="9" name="Sorotan menu">
            <a:extLst xmlns:a="http://schemas.openxmlformats.org/drawingml/2006/main">
              <a:ext uri="{FF2B5EF4-FFF2-40B4-BE49-F238E27FC236}">
                <a16:creationId xmlns:a16="http://schemas.microsoft.com/office/drawing/2014/main" id="{5270C611-D2D5-4085-A658-12284A3D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939" y="5358408"/>
            <a:ext cx="1712491" cy="1235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9F207ABE-D356-4CDB-97F5-CEDE605D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5666F-1584-412A-90B8-776294574A28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530430" y="5976045"/>
            <a:ext cx="4851945" cy="7233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B66E73-68CF-449A-B0F1-6459D879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Tekan menu yang dipesan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5E6179-682A-4D5A-9ABD-233EDEB4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Menu masuk ke daftar pesanan. Angka tersedia adalah perkiraan berdasarkan stok bahan saat itu.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39F24-B269-4824-B298-ED50369D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Saat pembayaran, sistem memeriksa kebutuhan gabungan semua menu di pesanan.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577A61-66B2-4F3F-BF5D-3FC5A3FD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043740-2FC5-4F28-8D5E-EB12740D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907658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FD8DF1-B797-4262-BA8E-EDE2DF69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4AC28-9210-43FE-87DF-0ABC7C1C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Periksa isi dan jumlah pesanan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A9CEC-86F9-489C-A838-128273C186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ba28fb8ed4fa8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quantity">
            <a:extLst xmlns:a="http://schemas.openxmlformats.org/drawingml/2006/main">
              <a:ext uri="{FF2B5EF4-FFF2-40B4-BE49-F238E27FC236}">
                <a16:creationId xmlns:a16="http://schemas.microsoft.com/office/drawing/2014/main" id="{F1C6B19F-A15E-47EE-A668-FA81780B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234" y="4467820"/>
            <a:ext cx="862013" cy="272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75E78218-7D9E-4B6D-9E56-769EE332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58305F-9858-43A5-9465-396B9FA5BCB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7925247" y="3095625"/>
            <a:ext cx="3457128" cy="150852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CB79C-2843-4AD0-9FE3-B9AE6768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Isi jumlah menu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09E8C-478D-4963-8819-5E6AB436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Contoh: 2 Kebab Original × Rp15.000 menghasilkan total Rp30.000.</a:t>
            </a:r>
          </a:p>
        </p:txBody>
      </p:sp>
      <p:sp>
        <p:nvSpPr>
          <p:cNvPr id="9" name="Sorotan remove">
            <a:extLst xmlns:a="http://schemas.openxmlformats.org/drawingml/2006/main">
              <a:ext uri="{FF2B5EF4-FFF2-40B4-BE49-F238E27FC236}">
                <a16:creationId xmlns:a16="http://schemas.microsoft.com/office/drawing/2014/main" id="{152BB492-E699-4F16-9636-42A71DFC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040" y="4467820"/>
            <a:ext cx="444652" cy="272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AF62588E-D859-4A18-AA1B-56A0BB74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86360-8205-48B8-BABD-76348574685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300692" y="4604147"/>
            <a:ext cx="1081683" cy="144422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E7408F-B13E-4308-961E-8EDFC56C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Hapus pilihan yang keliru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95485-92B7-4E62-BF83-EACF636A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Gunakan Hapus sebelum pembayaran jika menu salah. Periksa kembali pesanan bersama pelanggan.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A55E8-4291-404B-AF99-489F6703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Mengubah pesanan di layar belum mengurangi stok. Pengurangan terjadi setelah pembayaran berhasil disimpan.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5ECC01-78DE-4652-9BA5-C202B967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9F303-CC66-4021-8818-0D3CDC67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4919135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95F2F9-CEED-4B72-8857-A615A972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09E3C-2819-4B36-8091-4DF7E064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Catat pembayaran tunai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6CCAF-79D7-482A-8BE3-95AB4A005E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59edbc4c64d84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method">
            <a:extLst xmlns:a="http://schemas.openxmlformats.org/drawingml/2006/main">
              <a:ext uri="{FF2B5EF4-FFF2-40B4-BE49-F238E27FC236}">
                <a16:creationId xmlns:a16="http://schemas.microsoft.com/office/drawing/2014/main" id="{F246B2CD-0F3E-4457-BF78-FDA1AE52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459" y="5305918"/>
            <a:ext cx="3447008" cy="462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FD21042E-61E4-400D-A72C-9897F6A8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DC025-4456-411C-9568-F6FCDDC8A0B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405467" y="3095625"/>
            <a:ext cx="976908" cy="244157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6D097-C574-4057-9D76-BFF90093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Pilih Tunai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46375-281B-4517-8624-DD202F46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Gunakan pilihan ini jika uang diterima secara tunai. Nama pelanggan boleh dikosongkan.</a:t>
            </a:r>
          </a:p>
        </p:txBody>
      </p:sp>
      <p:sp>
        <p:nvSpPr>
          <p:cNvPr id="9" name="Sorotan cash">
            <a:extLst xmlns:a="http://schemas.openxmlformats.org/drawingml/2006/main">
              <a:ext uri="{FF2B5EF4-FFF2-40B4-BE49-F238E27FC236}">
                <a16:creationId xmlns:a16="http://schemas.microsoft.com/office/drawing/2014/main" id="{23437EFB-0B84-457D-8F3F-1080DC9C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459" y="6019698"/>
            <a:ext cx="3447008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94A26C35-45EF-4D85-9C8E-B64ED89D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3F0C8-E595-46A5-9EF2-EE2E0C1A9BA6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10405467" y="6048375"/>
            <a:ext cx="976908" cy="21242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4E6CD-E435-4365-8913-38605540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Isi uang yang diterima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F2BD9-8AE8-4709-9632-37EF6D5B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Untuk total Rp30.000 dan uang Rp50.000, kembalian yang tampil adalah Rp20.000.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331EB-5DFF-4847-B5C9-A560D9C9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Berikan kembalian sesuai angka yang tampil. Pastikan uang telah diterima sebelum menyimpan pembayaran.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6D3AAA-5AE3-4473-AD65-338D0B5D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222B53-1657-4AA9-B100-014225F8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0651854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1B4A6A-EF21-4F87-98A5-9571A0AE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4208F-1F02-4F0C-9913-01B48821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Catat pembayaran transfer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45E6B-1D5E-4C61-ABEF-81F077D4C3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9096f0859414b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method">
            <a:extLst xmlns:a="http://schemas.openxmlformats.org/drawingml/2006/main">
              <a:ext uri="{FF2B5EF4-FFF2-40B4-BE49-F238E27FC236}">
                <a16:creationId xmlns:a16="http://schemas.microsoft.com/office/drawing/2014/main" id="{401AF7D8-30FD-4CC1-823E-B09D7F46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459" y="5109465"/>
            <a:ext cx="3447008" cy="462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994E8DE3-B65C-45CF-99C9-1007E211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671ED-A76B-4511-A97D-D53D61186FA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405467" y="3095625"/>
            <a:ext cx="976908" cy="224511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EF1FE-A3A6-47C1-AC1D-BB636E0C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Pilih Transfer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C0883-E5F7-41DD-9D72-ADA315B8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Periksa dana sudah masuk sesuai total pesanan. Pembayaran transfer tidak menambah uang tunai di laci.</a:t>
            </a:r>
          </a:p>
        </p:txBody>
      </p:sp>
      <p:sp>
        <p:nvSpPr>
          <p:cNvPr id="9" name="Sorotan proof">
            <a:extLst xmlns:a="http://schemas.openxmlformats.org/drawingml/2006/main">
              <a:ext uri="{FF2B5EF4-FFF2-40B4-BE49-F238E27FC236}">
                <a16:creationId xmlns:a16="http://schemas.microsoft.com/office/drawing/2014/main" id="{55FD7DFE-0709-4C00-A735-D39849E6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459" y="5823245"/>
            <a:ext cx="3447008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A3EF00D2-4788-44A8-9EB9-481945AA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0E4F2-36D6-4B69-9B16-1BF1E09AD828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10405467" y="6048375"/>
            <a:ext cx="976908" cy="1597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95A96-C60C-4EB9-BC04-1C01382D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Tulis keterangan bukti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70212-81C0-47A4-A9C5-D4CF6302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Nomor atau keterangan bukti transfer boleh diisi untuk memudahkan penelusuran transaksi.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EBC3F1-48BF-4405-A195-F505961A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Contoh layar ini menunjukkan total Rp30.000. Transaksi latihan berikutnya disimpan dengan pembayaran tunai.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D30DDA-B7BE-4CCA-868B-BA26C4CE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BB2F74-A244-4B37-A0D7-C408B403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13458745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5E40D-2896-4815-8728-188B8FE2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2E9B9-2879-4C4B-ACE4-7061ACDE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Simpan pembayaran dan potong bahan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31F26-A27F-4CEF-B1B5-23D8789371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eed078edd425e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save">
            <a:extLst xmlns:a="http://schemas.openxmlformats.org/drawingml/2006/main">
              <a:ext uri="{FF2B5EF4-FFF2-40B4-BE49-F238E27FC236}">
                <a16:creationId xmlns:a16="http://schemas.microsoft.com/office/drawing/2014/main" id="{EA728EBA-3CDC-47D1-9A78-DB7670DE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459" y="6753123"/>
            <a:ext cx="3447008" cy="469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5554D02C-0494-43A8-9263-42040C1A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0003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BDCC1-A93A-4468-853E-5684E09B560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405467" y="4333875"/>
            <a:ext cx="976908" cy="265380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9D9AD-0C51-4B75-92F2-602C3174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1908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Tekan setelah diperiksa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089AF-45BE-4871-8A0B-D4AA3877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8576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Tunggu sampai nomor transaksi dan rincian penjualan tampil. Semua bahan dipotong sesuai resep.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1E8D7A-7D84-41AD-806C-03F92DC1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Jika muncul pesan stok tidak cukup atau harga berubah, periksa pesanan dan muat ulang katalog sebelum melanjutkan.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805E6-406A-44DC-8994-7BBBD2B6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EF4E6-8099-4F62-95E7-21B07B3E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38962244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B811F1-71B3-4E50-A62F-BE7A0B8B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6081C-0483-4EF2-B68F-C5FBC08F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Pastikan bukti transaksi muncul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C53CD-65CF-4D11-9147-A2168809CC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0d3f970a643c3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number">
            <a:extLst xmlns:a="http://schemas.openxmlformats.org/drawingml/2006/main">
              <a:ext uri="{FF2B5EF4-FFF2-40B4-BE49-F238E27FC236}">
                <a16:creationId xmlns:a16="http://schemas.microsoft.com/office/drawing/2014/main" id="{FCD698E4-DA53-4C2E-9AA7-088E3951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3642717"/>
            <a:ext cx="7322046" cy="338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FA7FB249-F57D-46B5-B38E-76B3354B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31A91-FBB3-4FC3-B959-F64FF341FC1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405467" y="3095625"/>
            <a:ext cx="976908" cy="71610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5BFD3-6AB8-47C9-B2A1-9543555C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Simpan nomor penjualan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50AF4-8C02-4F6E-AF9A-7DDEAA28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Nomor IZ-POS memudahkan pencarian jika perlu memeriksa transaksi atau melakukan pembatalan.</a:t>
            </a:r>
          </a:p>
        </p:txBody>
      </p:sp>
      <p:sp>
        <p:nvSpPr>
          <p:cNvPr id="9" name="Sorotan print">
            <a:extLst xmlns:a="http://schemas.openxmlformats.org/drawingml/2006/main">
              <a:ext uri="{FF2B5EF4-FFF2-40B4-BE49-F238E27FC236}">
                <a16:creationId xmlns:a16="http://schemas.microsoft.com/office/drawing/2014/main" id="{E4742289-ABC8-4BD0-90C0-AFD28AD8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4015876"/>
            <a:ext cx="895062" cy="239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0340B934-6D68-4CCB-86F0-03AD4DB6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6E12FF-2BB8-45A4-97A2-26F35A89E2EE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978483" y="4135832"/>
            <a:ext cx="7403892" cy="191254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6374A-3999-4A37-A39B-BE75F3D5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Cetak struk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32ECEB-9555-4479-8C93-5E90872A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Tekan Cetak struk, lalu gunakan pilihan cetak pada browser. Pilih printer yang benar.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0DDD7-47EB-4A33-BD4A-D5186438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Contoh: total Rp30.000, uang diterima Rp50.000, kembalian Rp20.000.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762F56-B9AF-4E40-B7B2-A4F944B7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E7D015-C72D-4BB0-B6C7-92A12B3E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92638494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B24C1-C7B9-4D50-9C60-8586BA09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 DAN 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8369F-68EA-4463-B492-646F76D8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Periksa bahan yang dipotong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411C8-EDD3-4C87-B118-619F52E181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4560bfea64126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consumed">
            <a:extLst xmlns:a="http://schemas.openxmlformats.org/drawingml/2006/main">
              <a:ext uri="{FF2B5EF4-FFF2-40B4-BE49-F238E27FC236}">
                <a16:creationId xmlns:a16="http://schemas.microsoft.com/office/drawing/2014/main" id="{82237D29-82E4-4D2C-B9D6-B44AA95B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938" y="2935384"/>
            <a:ext cx="7047012" cy="7637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E7D017C5-2308-4506-AC0F-E104B10A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0003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6EA78-8F22-416A-B2BB-26B9D1DBAC0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0267950" y="3317277"/>
            <a:ext cx="1114425" cy="101659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A57D1-146F-4E8A-A40C-94B3BA57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1908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Baca per menu dan total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05A59-0991-483B-B0B7-81488B5D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8576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Daging 40 gram per menu × 2 menu = 80 gram dipotong. Bahan lain juga mengikuti resepnya.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3EB67-8804-4157-95BB-BF5906B4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Rincian ini memakai resep saat transaksi terjadi. Resep yang diedit setelahnya tidak mengubah transaksi lama.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1DD09-524F-49BD-89F5-8FEDA7F2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9555D-9CD5-49F0-A9CD-3D28FB99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513963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CC3713-0599-47DD-8F4B-2E2D1715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 DAN 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D5B76-7DAE-4E77-BE0A-C10316B3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Telusuri riwayat keluar masuk bahan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5AD7C-66F6-42A4-B189-99070E5845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55525f09c4f10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search">
            <a:extLst xmlns:a="http://schemas.openxmlformats.org/drawingml/2006/main">
              <a:ext uri="{FF2B5EF4-FFF2-40B4-BE49-F238E27FC236}">
                <a16:creationId xmlns:a16="http://schemas.microsoft.com/office/drawing/2014/main" id="{FCFCB194-84B6-4A1C-9565-6D625D32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4068263"/>
            <a:ext cx="6054310" cy="403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D552668C-6AA4-404F-A273-9982376C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ECD7F-18AF-4225-A737-1AF18B156D3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9137731" y="3095625"/>
            <a:ext cx="2244644" cy="117444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34817-FDE0-4810-8A7C-54D62DF7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Cari bahan atau dokumen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D3186-55E9-48E5-AC8F-B4D1DAA2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Gunakan pencarian saat ingin mencocokkan penerimaan, penjualan, pembatalan, atau perubahan saldo.</a:t>
            </a:r>
          </a:p>
        </p:txBody>
      </p:sp>
      <p:sp>
        <p:nvSpPr>
          <p:cNvPr id="9" name="Sorotan detail">
            <a:extLst xmlns:a="http://schemas.openxmlformats.org/drawingml/2006/main">
              <a:ext uri="{FF2B5EF4-FFF2-40B4-BE49-F238E27FC236}">
                <a16:creationId xmlns:a16="http://schemas.microsoft.com/office/drawing/2014/main" id="{E62CDF7A-3F61-40D5-A201-9FC51085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938" y="5842890"/>
            <a:ext cx="1636468" cy="272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374818F5-445A-4797-B705-65CB8AA7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3F8B81-1D27-460B-B574-2CCF740E3A4B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857406" y="5979217"/>
            <a:ext cx="6524969" cy="6915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31F77-A328-4893-A772-0EADF3AD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Buka transaksi asal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B36663-3F2D-42E9-A7F8-94071630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Lihat penjualan &amp; bahan membuka rincian menu yang menyebabkan bahan berkurang.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0AA9B8-D714-48B1-BDB2-01A80D6B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Perhatikan saldo sebelum, saldo sesudah, waktu WIB, dan petugas pada setiap catatan.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5C952-A49D-4D38-8866-EEE3808D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31156B-036D-4096-86C5-9D644F65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00097757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B2BEFE-B9BD-45E7-8F8E-E3BE195D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 DAN 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EDD7C-D0D6-4EE9-B7A1-C6742846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Pilih asal dan tujuan mutasi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06BF0-386C-4371-A10F-0C1FA14D16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3b0af31ce43c2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source">
            <a:extLst xmlns:a="http://schemas.openxmlformats.org/drawingml/2006/main">
              <a:ext uri="{FF2B5EF4-FFF2-40B4-BE49-F238E27FC236}">
                <a16:creationId xmlns:a16="http://schemas.microsoft.com/office/drawing/2014/main" id="{92BFB4A3-8B7C-4424-9AB3-D1D4FDA0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479" y="4703462"/>
            <a:ext cx="7069931" cy="462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4EFADA5B-DF96-44F5-B74D-0AF52038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1719C-BDB9-47F5-9388-B11145DB2BB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279410" y="3095625"/>
            <a:ext cx="1102965" cy="183911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8D3AE-63CF-4FC1-8100-0CAE4F71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Pastikan lokasi asal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051AA-979C-4C9F-A3C9-D511FB63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Stok berkurang dari lokasi pengirim. Petugas hanya dapat mengirim dari lokasi yang boleh dikelolanya.</a:t>
            </a:r>
          </a:p>
        </p:txBody>
      </p:sp>
      <p:sp>
        <p:nvSpPr>
          <p:cNvPr id="9" name="Sorotan destination">
            <a:extLst xmlns:a="http://schemas.openxmlformats.org/drawingml/2006/main">
              <a:ext uri="{FF2B5EF4-FFF2-40B4-BE49-F238E27FC236}">
                <a16:creationId xmlns:a16="http://schemas.microsoft.com/office/drawing/2014/main" id="{5665BE1A-8DBB-4DF5-A9A5-350FBFFC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479" y="5482726"/>
            <a:ext cx="7069931" cy="462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35B095E8-8A69-412A-98D1-DEC4AC87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8B7EDB-689C-4E9C-B689-0C5675DCE787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279410" y="5714005"/>
            <a:ext cx="1102965" cy="33437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493B3-5509-4871-AF7E-7216E454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Pilih cabang atau Gudang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BA5DD-BDD8-4CC1-97D6-48BB1A9B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Contoh ini memindahkan bahan dari Izzi ke Gudang Utama. Arah sebaliknya dicatat petugas Gudang yang berwenang.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128485-F730-4547-B2A4-6EA2454F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Mutasi baru dicatat setelah barang diterima. Isi nama pengirim, penerima, tanggal/jam WIB, dan alasan.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E9DE58-43EE-4CF9-9902-F2C5F63A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AFE8EB-E7AF-400A-B42C-BC231531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15079047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52E58C-666F-47C5-9A65-89D49AD0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 DAN 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17B32-8A86-4FFE-96EA-49BDDD81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Pilih barang dan jumlah yang dipindahkan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58DC1-C5CE-4F0F-8322-CEAF2DA09B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1e1541e4c42ec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sourceProduct">
            <a:extLst xmlns:a="http://schemas.openxmlformats.org/drawingml/2006/main">
              <a:ext uri="{FF2B5EF4-FFF2-40B4-BE49-F238E27FC236}">
                <a16:creationId xmlns:a16="http://schemas.microsoft.com/office/drawing/2014/main" id="{CE04CBD9-4CF5-4636-97BA-443A05B1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996" y="3681803"/>
            <a:ext cx="6794897" cy="462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4B5944D3-D7F7-4F8A-B7E3-725D6B58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A8BF3-190C-46E0-9C7C-789ACDD4326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141893" y="3095625"/>
            <a:ext cx="1240482" cy="81745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C7B4F-D381-40BD-8E9D-608C8B52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Pilih produk master yang sama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ACF4F-F42E-4C79-89F0-5600F29E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Izzi memakai produk yang sama di asal dan tujuan. Periksa kode dan satuan yang tampil.</a:t>
            </a:r>
          </a:p>
        </p:txBody>
      </p:sp>
      <p:sp>
        <p:nvSpPr>
          <p:cNvPr id="9" name="Sorotan quantity">
            <a:extLst xmlns:a="http://schemas.openxmlformats.org/drawingml/2006/main">
              <a:ext uri="{FF2B5EF4-FFF2-40B4-BE49-F238E27FC236}">
                <a16:creationId xmlns:a16="http://schemas.microsoft.com/office/drawing/2014/main" id="{C7657F49-AA45-416A-85F1-C320131A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996" y="4362841"/>
            <a:ext cx="6794897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CC863114-F04B-4E1E-9E37-6FCA2587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74EA6-A589-48AF-BBC4-4231F94819F3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141893" y="4603943"/>
            <a:ext cx="1240482" cy="144443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21832-9305-4899-A299-DFAFCB42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Jumlah dalam satuan master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AE678D-E2E0-414D-8C0C-A831FCA8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Contoh ini memindahkan 1 KG. Saldo asal 3 KG menjadi 2 KG, sedangkan tujuan menerima 1 KG.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732FA-F92F-417A-BF12-84EEB46D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Pilih jumlah sesuai barang fisik. Mutasi Izzi tidak memerlukan produk tujuan atau konversi ke master lain.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30D621-7575-4F7B-A830-7C8A91A0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D6F62-B117-42A8-94A3-6BA6D04B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44207636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55BEA-6D9B-4B2C-B60E-2FB23306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 DAN 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F7604-A1E9-4A38-8B62-BA537BE2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Periksa barang sudah diterima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2D0CA-E169-470B-9D4F-0AC0CE5F26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fca6fd4924150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confirm">
            <a:extLst xmlns:a="http://schemas.openxmlformats.org/drawingml/2006/main">
              <a:ext uri="{FF2B5EF4-FFF2-40B4-BE49-F238E27FC236}">
                <a16:creationId xmlns:a16="http://schemas.microsoft.com/office/drawing/2014/main" id="{0486C281-DB7D-4348-905F-BAA1089B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479" y="6229043"/>
            <a:ext cx="182612" cy="182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E89A9FD2-12B7-4D87-BEB4-19CB28FB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B1609-B28E-459E-A8F2-1C4A8DEFD23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392091" y="3095625"/>
            <a:ext cx="7990284" cy="322472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1A914-A11E-4105-B171-D12AC243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Baca pernyataan ini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E42DED-A05A-4ED9-9388-216AB3A0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Centang setelah memastikan barang diterima dan perpindahan yang sama belum pernah dicatat.</a:t>
            </a:r>
          </a:p>
        </p:txBody>
      </p:sp>
      <p:sp>
        <p:nvSpPr>
          <p:cNvPr id="9" name="Sorotan save">
            <a:extLst xmlns:a="http://schemas.openxmlformats.org/drawingml/2006/main">
              <a:ext uri="{FF2B5EF4-FFF2-40B4-BE49-F238E27FC236}">
                <a16:creationId xmlns:a16="http://schemas.microsoft.com/office/drawing/2014/main" id="{333F7160-56E6-4C2F-91CA-7CDDA000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479" y="6752918"/>
            <a:ext cx="1670438" cy="469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81A447DE-B184-48B8-87DB-B2A87FD1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E42A5-46A4-4125-924C-86776F07BCE2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4879917" y="6048375"/>
            <a:ext cx="6502458" cy="9390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A2D57-7450-4B29-9C7F-5AE49DDE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Simpan mutasi selesai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25FAC4-0A9C-4A52-8575-37772C76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Sekali simpan mengurangi stok asal dan menambah stok tujuan bersama-sama. Tunggu bukti mutasi.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7A564E-DF83-422B-92F8-FB75E645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Jangan mencatat penerimaan yang sama lagi lewat Terima Bahan.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5EFB4-A973-483E-9A4A-816C1816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5C8936-9842-4BFA-A87E-CA7CDAC5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93366919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24AC4-FA8C-4E5F-9D4F-57072994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 DAN 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D2562-AD8A-426C-9D3A-B3269539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Cocokkan bukti mutasi selesai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66E80-712D-43AD-BCB7-D555E424B7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1f93da356404f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status">
            <a:extLst xmlns:a="http://schemas.openxmlformats.org/drawingml/2006/main">
              <a:ext uri="{FF2B5EF4-FFF2-40B4-BE49-F238E27FC236}">
                <a16:creationId xmlns:a16="http://schemas.microsoft.com/office/drawing/2014/main" id="{E103D797-DBF1-4821-B0D6-CC0346C2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31" y="3203972"/>
            <a:ext cx="1043936" cy="338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6FC82B41-9134-4C20-B67A-4D10D95E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67C50-4A1D-44CE-954B-D5163F33CCB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405467" y="3095625"/>
            <a:ext cx="976908" cy="27736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7E963-1735-4F9F-8754-787305F8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Pastikan status selesai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FE5C6-7D69-4FB8-8388-854295CE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Selesai diterima berarti pengurangan asal dan penambahan tujuan sudah tersimpan.</a:t>
            </a:r>
          </a:p>
        </p:txBody>
      </p:sp>
      <p:sp>
        <p:nvSpPr>
          <p:cNvPr id="9" name="Sorotan number">
            <a:extLst xmlns:a="http://schemas.openxmlformats.org/drawingml/2006/main">
              <a:ext uri="{FF2B5EF4-FFF2-40B4-BE49-F238E27FC236}">
                <a16:creationId xmlns:a16="http://schemas.microsoft.com/office/drawing/2014/main" id="{A36191EE-49BD-48FE-A92E-511F712A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3203972"/>
            <a:ext cx="1990799" cy="338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2205D0D0-05FA-4F30-A000-F5EFF4EE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9C502-CF9B-4634-B490-30BB5D8B8753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74220" y="3372989"/>
            <a:ext cx="6308155" cy="267538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89720-EEC1-47A5-8090-34612E6A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Gunakan nomor mutasi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F7006D-CA9E-4E1C-963D-EDC5E3FE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Nomor MUT menjadi rujukan. Bagian Jejak perubahan stok menunjukkan saldo asal dan tujuan.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5E284-A2F7-4809-9279-BA7E24D4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Contoh lain pada bukti ini memakai master gram: Izzi berkurang 200 gram dan Gudang bertambah 200 gram.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A2E1B-72B9-4E9A-AE4B-D44ECC85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46C25-3FB5-42E4-85F1-0E724A03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36131901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4070C0-B9AE-449A-B6DB-0BA13BD3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FB0D4-83A4-46A3-B3C3-138B1FEA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Pembatalan dilakukan oleh admin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A7DC9-82CD-4A11-9E9F-6100EFEA43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f69b32c1a409b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cancel">
            <a:extLst xmlns:a="http://schemas.openxmlformats.org/drawingml/2006/main">
              <a:ext uri="{FF2B5EF4-FFF2-40B4-BE49-F238E27FC236}">
                <a16:creationId xmlns:a16="http://schemas.microsoft.com/office/drawing/2014/main" id="{E195F323-992A-4E7D-8E10-04C3DABC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6949576"/>
            <a:ext cx="1496597" cy="272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17110113-8D7A-43FF-ACF9-D6C1652D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0003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D2774-DE82-460E-8D92-7B5A54926BF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4580018" y="4333875"/>
            <a:ext cx="6802357" cy="275202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00BCF-2DCF-45BE-9FDE-55D11C30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1908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Buka catatan pembatalan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19311-C4D2-4AFE-9899-CC51A188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8576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Cari transaksi yang benar, lalu tekan Catat pembatalan menu. Laci transaksi harus masih terbuka.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477C6-8ED7-41F6-A2D3-2522A58B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Kasir menghubungi admin jika perlu pembatalan. Pembatalan tidak boleh mengubah rekap laci yang sudah ditutup.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EA9610-9155-4638-9DF6-99748756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E9F13-8FF8-4526-894E-712B0A9B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1208851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C2EA79-22D9-447B-8AE8-113AD32D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DAD73-91BC-46B9-8B62-3E2F4373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Bedakan belum dibuat dan terbuang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48F0F-FD3A-4DC4-BD0A-961BB9B607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24563976241de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unused">
            <a:extLst xmlns:a="http://schemas.openxmlformats.org/drawingml/2006/main">
              <a:ext uri="{FF2B5EF4-FFF2-40B4-BE49-F238E27FC236}">
                <a16:creationId xmlns:a16="http://schemas.microsoft.com/office/drawing/2014/main" id="{B9F53F5F-D8A5-48DB-BC91-C7642CF6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196" y="4801688"/>
            <a:ext cx="3545235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FA06ABF2-6AFC-4F58-ACE9-F832537E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FD3E1-6B68-4707-88B0-E749CAF3149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6733431" y="3095625"/>
            <a:ext cx="4648944" cy="194716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188AE-68FF-40F9-B02B-077D6828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Menu belum dibuat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CDC96-4707-4B32-8434-38779708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Isi jumlah menu yang belum dibuat. Bahan sesuai resep akan dikembalikan ke stok.</a:t>
            </a:r>
          </a:p>
        </p:txBody>
      </p:sp>
      <p:sp>
        <p:nvSpPr>
          <p:cNvPr id="9" name="Sorotan wasted">
            <a:extLst xmlns:a="http://schemas.openxmlformats.org/drawingml/2006/main">
              <a:ext uri="{FF2B5EF4-FFF2-40B4-BE49-F238E27FC236}">
                <a16:creationId xmlns:a16="http://schemas.microsoft.com/office/drawing/2014/main" id="{9ADF4228-CD82-4844-8054-0C85C40A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5458" y="4801688"/>
            <a:ext cx="3545235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2C879952-4FB9-40DC-B43E-5315FBFB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07107-0E31-4901-AFD1-D7FD96D15934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300693" y="5042790"/>
            <a:ext cx="1081682" cy="100558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1B91C-7024-4814-A311-1920C736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Menu sudah dibuat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8772B-9B46-4F1B-8574-7CD6777D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Isi menu yang sudah dibuat lalu terbuang. Bahannya tetap terpakai dan tidak dipotong dua kali.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49DE72-7CDE-4DD3-BB5E-A51C4CD4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Isi kondisi yang sebenarnya. Jumlah kedua kolom tidak boleh melebihi sisa menu yang belum dibatalkan.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016B0B-4678-4284-9775-BA8C42A5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55CDBD-8A90-480B-8900-37E14D19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09086954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9EE9E6-7319-4F27-8938-D978BF50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EC641-21BD-4E9E-B1BB-A6C6FF1F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Isi alasan dan periksa pembatalan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1EEF4-8CA9-4B33-A498-DFE977FC27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d48ed7acc74cc5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reason">
            <a:extLst xmlns:a="http://schemas.openxmlformats.org/drawingml/2006/main">
              <a:ext uri="{FF2B5EF4-FFF2-40B4-BE49-F238E27FC236}">
                <a16:creationId xmlns:a16="http://schemas.microsoft.com/office/drawing/2014/main" id="{7E74DA6E-DF00-41C4-8C3D-CDE593C4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5639888"/>
            <a:ext cx="7322046" cy="678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BB816860-62EA-45AD-9E22-C6ADB842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F0E84-11E5-4C70-B187-833061BD2E8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405467" y="3095625"/>
            <a:ext cx="976908" cy="288359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E7818-0995-4636-976B-90BDB797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Jelaskan kejadiannya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23360-2FA6-4B69-9F20-2162C75D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Tuliskan alasan yang mudah ditelusuri. Contoh: pelanggan membatalkan satu menu yang belum dibuat.</a:t>
            </a:r>
          </a:p>
        </p:txBody>
      </p:sp>
      <p:sp>
        <p:nvSpPr>
          <p:cNvPr id="9" name="Sorotan save">
            <a:extLst xmlns:a="http://schemas.openxmlformats.org/drawingml/2006/main">
              <a:ext uri="{FF2B5EF4-FFF2-40B4-BE49-F238E27FC236}">
                <a16:creationId xmlns:a16="http://schemas.microsoft.com/office/drawing/2014/main" id="{877AEBC5-816B-4FDC-B46E-F3318A66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6753123"/>
            <a:ext cx="2622417" cy="469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9D9DCC79-550D-4B7E-BE2B-60AC41A7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E41CA-478B-4565-8BA2-291BB7B487EA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5705838" y="6048375"/>
            <a:ext cx="5676537" cy="939301"/>
          </a:xfrm>
          <a:prstGeom xmlns:a="http://schemas.openxmlformats.org/drawingml/2006/main" prst="bentConnector3">
            <a:avLst>
              <a:gd name="adj1" fmla="val 95973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3E6C1-102C-4EBF-B0E0-F478507D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Simpan setelah konfirmasi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C65879-F552-4062-89C3-74EA6C47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Centang pernyataan pemeriksaan, lalu simpan. Periksa nilai pengembalian uang pada hasil pembatalan.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D6BA9-2969-43E2-9CA8-E5143C44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Pencatatan pembatalan tidak menyerahkan uang secara otomatis. Petugas tetap perlu mengembalikan uang kepada pelanggan.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DB180-0B56-48B6-8190-F56BAFCC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6D1482-9D36-4B22-8482-D214BAA5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73099029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83E21-AC79-471A-A98B-76AA437E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AA6C0-B235-4E90-AC7D-8690883D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Periksa penjualan bersih sesudah batal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9441C-3FD3-4EE8-B761-2598C6B5A1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dfd15082246ce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net">
            <a:extLst xmlns:a="http://schemas.openxmlformats.org/drawingml/2006/main">
              <a:ext uri="{FF2B5EF4-FFF2-40B4-BE49-F238E27FC236}">
                <a16:creationId xmlns:a16="http://schemas.microsoft.com/office/drawing/2014/main" id="{DDAA9AE2-BD64-4EF9-B8D9-DF40F385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5083271"/>
            <a:ext cx="7322046" cy="272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67D2244A-37EB-455F-A852-C490AB65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0003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1D141-C924-4C0C-A6F3-415B72E32C8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405467" y="4333875"/>
            <a:ext cx="976908" cy="88572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BE03B-8AAD-47D4-8959-567480FA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1908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Cocokkan nilai bersih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B8B23-DA3A-4524-A0C4-8B68AD14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8576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Penjualan awal Rp30.000 dikurangi pembatalan Rp15.000 menjadi penjualan bersih Rp15.000.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FD06E-CA77-4B0A-AE76-D3F40F3E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Pada contoh belum dibuat 1 menu, daging 40 gram dan bahan resep lainnya dikembalikan ke stok.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25E9F-42DB-41D9-8211-4C006029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2A0F23-4E18-45A6-9134-DEDD0573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8970185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8A1446-8946-447B-85DD-969998DD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31F03-97A4-455E-9C36-10B7F7C6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Hitung uang lalu tutup laci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6AC93-B283-4E54-BE83-2061C93A0A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842b91dcf4ad4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cash">
            <a:extLst xmlns:a="http://schemas.openxmlformats.org/drawingml/2006/main">
              <a:ext uri="{FF2B5EF4-FFF2-40B4-BE49-F238E27FC236}">
                <a16:creationId xmlns:a16="http://schemas.microsoft.com/office/drawing/2014/main" id="{FF219541-6242-4EE0-B0D3-1FA09D31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3531394"/>
            <a:ext cx="7322046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BEAEFC8E-E4F5-438D-A234-9DD72102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64AB6-CC0F-459B-ABFD-2BD7190BBAF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405467" y="3095625"/>
            <a:ext cx="976908" cy="67687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7F8B8-E21F-4A81-A136-6D927ECD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Isi uang fisik akhir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66B7A-3517-4B85-8B64-6CEF1B54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Hitung uang yang benar-benar ada. Contoh: modal Rp100.000 + tunai bersih Rp15.000 = Rp115.000.</a:t>
            </a:r>
          </a:p>
        </p:txBody>
      </p:sp>
      <p:sp>
        <p:nvSpPr>
          <p:cNvPr id="9" name="Sorotan close">
            <a:extLst xmlns:a="http://schemas.openxmlformats.org/drawingml/2006/main">
              <a:ext uri="{FF2B5EF4-FFF2-40B4-BE49-F238E27FC236}">
                <a16:creationId xmlns:a16="http://schemas.microsoft.com/office/drawing/2014/main" id="{81ED5CB3-D9B5-4823-A954-1705635A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5050631"/>
            <a:ext cx="1877634" cy="469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0CBAAE02-B2EC-46B0-A9AF-AA78340F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86B0A8-2335-40B7-B2E3-C2D7ED7550F1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961055" y="5285184"/>
            <a:ext cx="6421320" cy="76319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44841-5919-4338-96C2-4378D405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Simpan rekap penutupan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0F6C9-4951-41E3-A003-8C105549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Tulis alasan bila ada selisih. Pastikan pengembalian uang pembatalan sudah selesai sebelum menutup laci.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27D96D-CE0C-459A-A5F1-32F550FA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Uang transfer tidak dihitung sebagai uang tunai laci. Setelah ditutup, transaksi shift tersebut tidak dapat dibatalkan.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D65395-42D3-478E-8128-18162FC8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2F8B8A-E3A8-44FB-BEC6-03E5431A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92684792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6E7B4-253F-4F5D-9E04-C6750A5E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KASIR DAN 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831D7-0B44-4B7F-8A83-0F95E54D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Periksa rekap laci ditutup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F0FCB-340A-45DB-AB5F-72E9741B53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65887c20e41be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closed">
            <a:extLst xmlns:a="http://schemas.openxmlformats.org/drawingml/2006/main">
              <a:ext uri="{FF2B5EF4-FFF2-40B4-BE49-F238E27FC236}">
                <a16:creationId xmlns:a16="http://schemas.microsoft.com/office/drawing/2014/main" id="{26156609-FD27-491F-BEDB-EEFB4186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938" y="5810250"/>
            <a:ext cx="1897382" cy="239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CCEF7C62-E906-44F3-AFB7-751397A1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E094D-AED0-4F36-A3E3-07393B67579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5118320" y="3095625"/>
            <a:ext cx="6264055" cy="283458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DD6E7-AC5D-49B5-BA7D-D8F77E4C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Status sudah ditutup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D6D84-47EA-49F0-B9DC-A1B2F2E4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Periksa nama kasir dan waktu buka/tutup. Riwayat ini menjadi catatan satu shift kerja.</a:t>
            </a:r>
          </a:p>
        </p:txBody>
      </p:sp>
      <p:sp>
        <p:nvSpPr>
          <p:cNvPr id="9" name="Sorotan difference">
            <a:extLst xmlns:a="http://schemas.openxmlformats.org/drawingml/2006/main">
              <a:ext uri="{FF2B5EF4-FFF2-40B4-BE49-F238E27FC236}">
                <a16:creationId xmlns:a16="http://schemas.microsoft.com/office/drawing/2014/main" id="{76C75524-40FC-43F2-9F13-77292C32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938" y="6255544"/>
            <a:ext cx="7047012" cy="272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FD9CEC9E-4CB0-41F9-BC71-9B4C7030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A6C80-918A-4D69-8D28-B2C5C769A9D2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10267950" y="6048375"/>
            <a:ext cx="1114425" cy="34349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443C6-D870-4834-9383-259E0B39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Baca selisih uang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E007D7-D8BC-473C-B95B-FFBA1AD4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Selisih membandingkan uang fisik yang dihitung dengan perkiraan sistem. Contoh ini menunjukkan Rp0.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1E5A71-486F-4C05-B409-C4D58220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Jika ada selisih, tulis sebab yang sebenarnya; jangan mengubah angka hanya agar hasilnya nol.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CEB828-9CCC-4A59-9CEA-1D59AF0E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CDEF38-6FA2-4C15-9FEF-C06EE007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43855417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ED492F-2F85-4F3E-B59E-19EF857E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 DAN 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95D66-46FC-462E-B4B0-618446EE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Stock opname memerlukan izin Owner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3FE23-25B9-426B-A1A0-3146BB9E36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ddc68e3074cfd"/>
          <a:stretch xmlns:a="http://schemas.openxmlformats.org/drawingml/2006/main"/>
        </p:blipFill>
        <p:spPr>
          <a:xfrm xmlns:a="http://schemas.openxmlformats.org/drawingml/2006/main">
            <a:off x="381000" y="1657350"/>
            <a:ext cx="10477500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status">
            <a:extLst xmlns:a="http://schemas.openxmlformats.org/drawingml/2006/main">
              <a:ext uri="{FF2B5EF4-FFF2-40B4-BE49-F238E27FC236}">
                <a16:creationId xmlns:a16="http://schemas.microsoft.com/office/drawing/2014/main" id="{799BBBCD-2DF9-4F66-8804-767FB1A4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9111" y="4827882"/>
            <a:ext cx="383260" cy="272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97716C64-45B9-4080-97F7-E5B5BF60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19238-0CAD-4814-AB7C-EB624F8E1E3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392371" y="3095625"/>
            <a:ext cx="990004" cy="18685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288E9-5875-4294-956A-D8EF1F22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Pastikan sesi aktif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A01CA-723C-450B-AF5C-FB4B821F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Owner membuka sesi untuk lokasi tertentu dengan batas waktu. Periksa nama cabang dan instruksinya.</a:t>
            </a:r>
          </a:p>
        </p:txBody>
      </p:sp>
      <p:sp>
        <p:nvSpPr>
          <p:cNvPr id="9" name="Sorotan start">
            <a:extLst xmlns:a="http://schemas.openxmlformats.org/drawingml/2006/main">
              <a:ext uri="{FF2B5EF4-FFF2-40B4-BE49-F238E27FC236}">
                <a16:creationId xmlns:a16="http://schemas.microsoft.com/office/drawing/2014/main" id="{DB2DC4BB-1390-4EF9-815B-5000E595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938" y="5319015"/>
            <a:ext cx="1051713" cy="239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D834CEEE-A794-40AA-9D7C-71234742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8EC088-B64F-4EF1-8EF5-330B8B85976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272651" y="5438971"/>
            <a:ext cx="7109724" cy="60940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4700E5-8DFC-4EEE-9914-825D863A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Mulai hitung fisik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1AD919-2975-4110-8D95-EFE2DA3A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Buka sesi yang sesuai. Hentikan pergerakan bahan sementara agar hasil hitung tetap cocok.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FCB53-C867-4E0F-8CA0-463145CD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Jika belum ada sesi atau waktunya habis, minta Owner membuka atau memperpanjang akses.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B0CEDD-AE09-45E2-81CD-1359F9A1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7B00B-6B29-4772-A6A4-52C7A1C9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20537132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062AA-5667-4BB2-9723-B3125D69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 DAN 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B78E0-393A-4ACB-90AC-28AAEDE8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Isi total hasil hitung fisik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7005B-C4E8-4F82-A4B3-C1D1DB703E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a9e7f51534de4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physical">
            <a:extLst xmlns:a="http://schemas.openxmlformats.org/drawingml/2006/main">
              <a:ext uri="{FF2B5EF4-FFF2-40B4-BE49-F238E27FC236}">
                <a16:creationId xmlns:a16="http://schemas.microsoft.com/office/drawing/2014/main" id="{F9722793-6506-4AED-9F7F-E22A7E72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4363045"/>
            <a:ext cx="7322046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60D196FC-26FD-4882-A688-C66764F2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0003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62774-CFFC-4179-825B-3C25AD048F2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405467" y="4333875"/>
            <a:ext cx="976908" cy="27027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87917-1899-4FB5-A409-F222CC1F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1908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Masukkan saldo akhir fisik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AA9E7-1C19-4A95-BB09-37007D7F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8576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Jika hasil timbang 5750 gram, masukkan 5750. Jangan memasukkan angka selisih 10 gram.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0BAE62-8EA6-4066-8C20-A2BC54B7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Contoh: sistem 5760 gram, fisik 5750 gram. Sistem menghitung selisih -10 gram.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080F56-FF6F-4C7E-B776-D7C32F13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B174B-5B07-4979-9F25-48BBC4FF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27438208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3609DA-69E8-4B52-894A-CA18F022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 DAN 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E3A0C-48BC-4211-B960-5A8F26BF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Jelaskan selisih lalu simpan SO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E408D-EAD5-40FA-9AFA-69A9A22AF6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a534078674c9e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notes">
            <a:extLst xmlns:a="http://schemas.openxmlformats.org/drawingml/2006/main">
              <a:ext uri="{FF2B5EF4-FFF2-40B4-BE49-F238E27FC236}">
                <a16:creationId xmlns:a16="http://schemas.microsoft.com/office/drawing/2014/main" id="{1B31BC6B-8759-45F3-A6CA-BF8F5AEC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3727847"/>
            <a:ext cx="7322046" cy="678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01C59E98-0283-4ED6-8403-F548A7B3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8C95E-D50C-430A-8147-9F1D072BDDA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405467" y="3095625"/>
            <a:ext cx="976908" cy="971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8EE09-D904-42E5-A720-5C7581C9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Catat hasil pemeriksaan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24657-A688-4FC7-A5E1-3792EDCE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Jelaskan hasil hitung dan sebab selisih sesuai temuan. Periksa kembali satuan yang digunakan.</a:t>
            </a:r>
          </a:p>
        </p:txBody>
      </p:sp>
      <p:sp>
        <p:nvSpPr>
          <p:cNvPr id="9" name="Sorotan save">
            <a:extLst xmlns:a="http://schemas.openxmlformats.org/drawingml/2006/main">
              <a:ext uri="{FF2B5EF4-FFF2-40B4-BE49-F238E27FC236}">
                <a16:creationId xmlns:a16="http://schemas.microsoft.com/office/drawing/2014/main" id="{A5771A4E-35B3-4B76-872E-31BEEF03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4841081"/>
            <a:ext cx="1523200" cy="469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5B288E68-93F2-4B2D-85BD-6F0385CE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CE186-CDA5-4A9B-B6D4-90211A3655FB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606621" y="5075634"/>
            <a:ext cx="6775754" cy="97274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B1049F-54E7-466F-87EC-10BDD6F0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Simpan hasil hitung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E3D90F-E92C-4DE6-8A28-CEB14811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Centang konfirmasi fisik lalu simpan. Saldo lokasi akan mengikuti angka hasil hitung Anda.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E48FA-E7C5-4A3C-9855-92C1C64A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Satu produk disimpan sekali per sesi. Jika stok berubah selama menghitung, muat ulang dan hitung kembali.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DD6F5-F1BC-4924-8798-EDE55A70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93316-BC30-41FD-851C-511C3DD1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41115510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361A42-1E05-4C2B-84B4-F52F1962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 DAN 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7172C-D426-488F-A31D-A82142B4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Lihat petugas dan jejak hasil SO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20DDD-9520-487B-A8C1-AF09599111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fd078f73804293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detail">
            <a:extLst xmlns:a="http://schemas.openxmlformats.org/drawingml/2006/main">
              <a:ext uri="{FF2B5EF4-FFF2-40B4-BE49-F238E27FC236}">
                <a16:creationId xmlns:a16="http://schemas.microsoft.com/office/drawing/2014/main" id="{73A7A7E2-5A7D-4C53-9048-04449F7F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938" y="3937192"/>
            <a:ext cx="1261672" cy="239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9822AF57-4E79-4E69-8B08-0383F3AE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0003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613F6-BD05-4DA3-BE8D-EF4CF432DB2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482610" y="4057148"/>
            <a:ext cx="6899765" cy="27672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0C2DD-F107-4485-9DFD-20D3DD64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1908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Buka detail hasil hitung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43ECF-3280-4470-BC35-4E0AC8BD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8576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Detail menunjukkan saldo sebelum/sesudah, selisih, petugas, alasan, izin Owner, dan jejak penyesuaian.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58006-F88C-45AB-826E-5315C40E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Gunakan Riwayat SO untuk mencari hasil berdasarkan produk, tanggal, petugas, atau sesi.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52D0C0-DDC1-4B7E-9F5F-A1784712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D6C528-670A-45F8-8911-2E626280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09578621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4939F-A48A-4F1F-BE6E-12A84930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14375"/>
            <a:ext cx="13716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75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75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Jika ada kendala, periksa bagian ini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37C16-29F8-4BEC-8AF1-A1345344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14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Menu belum muncul atau stok tidak cukup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AA7F7-430C-4147-84FF-976A5528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323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Admin memeriksa bahan aktif, menu aktif, resep, stok di cabang yang benar, dan seluruh kebutuhan gabungan pesanan.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A025D-322F-440B-ACBF-7BB57609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1314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Pembatalan atau SO tidak dapat dilakukan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DC558-11D1-419D-92A1-F507F2AD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323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Pembatalan memerlukan akun admin dan laci transaksi yang masih aktif. SO memerlukan sesi Owner yang masih berlaku.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7142E-D6EF-4948-BA60-7616DD74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14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Angka stok atau uang tidak cocok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78844-F6C6-4E04-AA24-F3C035E1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323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Telusuri nomor dokumen, kartu stok, pembatalan, dan rekap laci. Jangan mencatat ulang transaksi yang sama atau menebak jumlah fisik.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32201-8108-4C60-9F66-528C6534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6D6BC-542E-4D39-B0F7-07570FA8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094668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2026-10-15T14:24:04.4860000Z</dcterms:created>
  <dcterms:modified xsi:type="dcterms:W3CDTF">2026-10-15T14:24:04.4860000Z</dcterms:modified>
</coreProperties>
</file>